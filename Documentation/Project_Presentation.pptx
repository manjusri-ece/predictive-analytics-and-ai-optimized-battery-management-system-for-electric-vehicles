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78" r:id="rId3"/>
    <p:sldId id="258" r:id="rId4"/>
    <p:sldId id="260" r:id="rId5"/>
    <p:sldId id="261" r:id="rId6"/>
    <p:sldId id="262" r:id="rId7"/>
    <p:sldId id="263" r:id="rId8"/>
    <p:sldId id="270" r:id="rId9"/>
    <p:sldId id="276" r:id="rId10"/>
    <p:sldId id="277" r:id="rId11"/>
    <p:sldId id="275" r:id="rId12"/>
    <p:sldId id="279" r:id="rId13"/>
    <p:sldId id="280" r:id="rId14"/>
    <p:sldId id="273" r:id="rId15"/>
    <p:sldId id="268" r:id="rId16"/>
    <p:sldId id="281"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87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A7B837-C5AE-4F04-BCDA-F21F0BA70B39}" type="datetimeFigureOut">
              <a:rPr lang="en-IN" smtClean="0"/>
              <a:t>16-06-2026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BEB8C9-8C0C-4DB8-95B2-8BCA96937C7B}" type="slidenum">
              <a:rPr lang="en-IN" smtClean="0"/>
              <a:t>‹#›</a:t>
            </a:fld>
            <a:endParaRPr lang="en-IN"/>
          </a:p>
        </p:txBody>
      </p:sp>
    </p:spTree>
    <p:extLst>
      <p:ext uri="{BB962C8B-B14F-4D97-AF65-F5344CB8AC3E}">
        <p14:creationId xmlns:p14="http://schemas.microsoft.com/office/powerpoint/2010/main" val="1040953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CB7828A-6D6B-4C46-8ABE-D051A08C2DE1}" type="datetime1">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2987796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E393438-67B8-4262-B2F1-9984AFF131E1}" type="datetime1">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1425414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A054ADA-6AC7-4379-AE91-F3398FF045BE}" type="datetime1">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412195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7BF563E-B5DC-431B-B4D0-C940763D0DE6}" type="datetime1">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635231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AF2842F-AC22-4682-AAA4-E46A164971AD}" type="datetime1">
              <a:rPr lang="en-IN" smtClean="0"/>
              <a:t>16-06-2026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3948116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894C9F1-D255-40FF-A808-449CB3C333C9}" type="datetime1">
              <a:rPr lang="en-IN" smtClean="0"/>
              <a:t>16-06-2026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3511234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1065F4-9D49-466F-B5D3-3E5BE6953EEA}" type="datetime1">
              <a:rPr lang="en-IN" smtClean="0"/>
              <a:t>16-06-2026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421139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2610766-6C17-40F5-BC3D-D541FFE859D3}" type="datetime1">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1633870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B39714A-0EA7-43CF-A789-B500D515588B}" type="datetime1">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933830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83873E0-F0DC-47B8-97FD-A28116D832F0}" type="datetime1">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3623424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BFBFDF-F63D-4B6B-9C65-D06619F1DDBE}" type="datetime1">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153317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77372A-8801-419B-B26E-3CAAF3336438}" type="datetime1">
              <a:rPr lang="en-IN" smtClean="0"/>
              <a:t>16-06-2026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13B45-0786-488C-9F83-DB626DC1C02A}" type="slidenum">
              <a:rPr lang="en-IN" smtClean="0"/>
              <a:t>‹#›</a:t>
            </a:fld>
            <a:endParaRPr lang="en-IN"/>
          </a:p>
        </p:txBody>
      </p:sp>
    </p:spTree>
    <p:extLst>
      <p:ext uri="{BB962C8B-B14F-4D97-AF65-F5344CB8AC3E}">
        <p14:creationId xmlns:p14="http://schemas.microsoft.com/office/powerpoint/2010/main" val="3253778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DCBCF9AA-05F0-4C1B-8C99-9B7227F94A5F}" type="datetime1">
              <a:rPr lang="en-IN" smtClean="0"/>
              <a:t>16-06-2026</a:t>
            </a:fld>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1</a:t>
            </a:fld>
            <a:endParaRPr lang="en-IN"/>
          </a:p>
        </p:txBody>
      </p:sp>
      <p:graphicFrame>
        <p:nvGraphicFramePr>
          <p:cNvPr id="8" name="Table 7"/>
          <p:cNvGraphicFramePr>
            <a:graphicFrameLocks noGrp="1"/>
          </p:cNvGraphicFramePr>
          <p:nvPr>
            <p:extLst>
              <p:ext uri="{D42A27DB-BD31-4B8C-83A1-F6EECF244321}">
                <p14:modId xmlns:p14="http://schemas.microsoft.com/office/powerpoint/2010/main" val="2281246887"/>
              </p:ext>
            </p:extLst>
          </p:nvPr>
        </p:nvGraphicFramePr>
        <p:xfrm>
          <a:off x="-1515161" y="396815"/>
          <a:ext cx="11806475" cy="6700999"/>
        </p:xfrm>
        <a:graphic>
          <a:graphicData uri="http://schemas.openxmlformats.org/drawingml/2006/table">
            <a:tbl>
              <a:tblPr firstRow="1" bandRow="1">
                <a:tableStyleId>{5C22544A-7EE6-4342-B048-85BDC9FD1C3A}</a:tableStyleId>
              </a:tblPr>
              <a:tblGrid>
                <a:gridCol w="5923025">
                  <a:extLst>
                    <a:ext uri="{9D8B030D-6E8A-4147-A177-3AD203B41FA5}">
                      <a16:colId xmlns:a16="http://schemas.microsoft.com/office/drawing/2014/main" val="1213207966"/>
                    </a:ext>
                  </a:extLst>
                </a:gridCol>
                <a:gridCol w="402465">
                  <a:extLst>
                    <a:ext uri="{9D8B030D-6E8A-4147-A177-3AD203B41FA5}">
                      <a16:colId xmlns:a16="http://schemas.microsoft.com/office/drawing/2014/main" val="4103485065"/>
                    </a:ext>
                  </a:extLst>
                </a:gridCol>
                <a:gridCol w="5480985">
                  <a:extLst>
                    <a:ext uri="{9D8B030D-6E8A-4147-A177-3AD203B41FA5}">
                      <a16:colId xmlns:a16="http://schemas.microsoft.com/office/drawing/2014/main" val="2777086463"/>
                    </a:ext>
                  </a:extLst>
                </a:gridCol>
              </a:tblGrid>
              <a:tr h="476887">
                <a:tc>
                  <a:txBody>
                    <a:bodyPr/>
                    <a:lstStyle/>
                    <a:p>
                      <a:pPr marL="0" algn="l" defTabSz="914400" rtl="0" eaLnBrk="1" latinLnBrk="0" hangingPunct="1">
                        <a:spcAft>
                          <a:spcPts val="0"/>
                        </a:spcAft>
                      </a:pP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3838151987"/>
                  </a:ext>
                </a:extLst>
              </a:tr>
              <a:tr h="1146835">
                <a:tc>
                  <a:txBody>
                    <a:bodyPr/>
                    <a:lstStyle/>
                    <a:p>
                      <a:pPr marL="0" algn="l" defTabSz="914400" rtl="0" eaLnBrk="1" latinLnBrk="0" hangingPunct="1">
                        <a:spcAft>
                          <a:spcPts val="0"/>
                        </a:spcAft>
                      </a:pPr>
                      <a:r>
                        <a:rPr lang="en-US" b="1" dirty="0">
                          <a:solidFill>
                            <a:srgbClr val="4E18E8"/>
                          </a:solidFill>
                          <a:latin typeface="Times New Roman" pitchFamily="18" charset="0"/>
                          <a:cs typeface="Times New Roman" pitchFamily="18" charset="0"/>
                        </a:rPr>
                        <a:t>                                                                    </a:t>
                      </a:r>
                      <a:r>
                        <a:rPr lang="en-US" b="1" dirty="0">
                          <a:solidFill>
                            <a:schemeClr val="tx1"/>
                          </a:solidFill>
                          <a:latin typeface="Times New Roman" pitchFamily="18" charset="0"/>
                          <a:cs typeface="Times New Roman" pitchFamily="18" charset="0"/>
                        </a:rPr>
                        <a:t>Project Title </a:t>
                      </a:r>
                      <a:endParaRPr lang="en-IN" sz="1800" b="1" kern="1200" dirty="0">
                        <a:solidFill>
                          <a:schemeClr val="tx1"/>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chemeClr val="tx1"/>
                          </a:solidFill>
                          <a:latin typeface="Times New Roman" pitchFamily="18" charset="0"/>
                          <a:ea typeface="+mn-ea"/>
                          <a:cs typeface="Times New Roman" pitchFamily="18" charset="0"/>
                        </a:rPr>
                        <a:t>:</a:t>
                      </a:r>
                      <a:endParaRPr lang="en-IN" sz="1800" b="1" kern="1200" dirty="0">
                        <a:solidFill>
                          <a:schemeClr val="tx1"/>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b="1" dirty="0">
                          <a:solidFill>
                            <a:schemeClr val="tx1"/>
                          </a:solidFill>
                          <a:latin typeface="Times New Roman" pitchFamily="18" charset="0"/>
                          <a:cs typeface="Times New Roman" pitchFamily="18" charset="0"/>
                        </a:rPr>
                        <a:t>AI-based Smart E-Vehicle Battery Management System</a:t>
                      </a:r>
                    </a:p>
                    <a:p>
                      <a:pPr marL="0" algn="l" defTabSz="914400" rtl="0" eaLnBrk="1" latinLnBrk="0" hangingPunct="1">
                        <a:spcAft>
                          <a:spcPts val="0"/>
                        </a:spcAft>
                      </a:pP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1031390145"/>
                  </a:ext>
                </a:extLst>
              </a:tr>
              <a:tr h="2186812">
                <a:tc>
                  <a:txBody>
                    <a:bodyPr/>
                    <a:lstStyle/>
                    <a:p>
                      <a:pPr marL="0" algn="l" defTabSz="914400" rtl="0" eaLnBrk="1" latinLnBrk="0" hangingPunct="1">
                        <a:spcAft>
                          <a:spcPts val="0"/>
                        </a:spcAft>
                      </a:pPr>
                      <a:r>
                        <a:rPr lang="en-US" sz="1800" b="1" kern="1200" dirty="0">
                          <a:solidFill>
                            <a:schemeClr val="tx1"/>
                          </a:solidFill>
                          <a:latin typeface="Times New Roman" pitchFamily="18" charset="0"/>
                          <a:ea typeface="+mn-ea"/>
                          <a:cs typeface="Times New Roman" pitchFamily="18" charset="0"/>
                        </a:rPr>
                        <a:t>                                                                      Description</a:t>
                      </a:r>
                      <a:endParaRPr lang="en-IN" sz="1800" b="1" kern="1200" dirty="0">
                        <a:solidFill>
                          <a:schemeClr val="tx1"/>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chemeClr val="tx1"/>
                          </a:solidFill>
                          <a:latin typeface="Times New Roman" pitchFamily="18" charset="0"/>
                          <a:ea typeface="+mn-ea"/>
                          <a:cs typeface="Times New Roman" pitchFamily="18" charset="0"/>
                        </a:rPr>
                        <a:t>:</a:t>
                      </a:r>
                      <a:endParaRPr lang="en-IN" sz="1800" b="1" kern="1200" dirty="0">
                        <a:solidFill>
                          <a:schemeClr val="tx1"/>
                        </a:solidFill>
                        <a:latin typeface="Times New Roman" pitchFamily="18" charset="0"/>
                        <a:ea typeface="+mn-ea"/>
                        <a:cs typeface="Times New Roman" pitchFamily="18" charset="0"/>
                      </a:endParaRPr>
                    </a:p>
                  </a:txBody>
                  <a:tcPr marL="84560" marR="84560" marT="42280" marB="42280">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Times New Roman" panose="02020603050405020304" pitchFamily="18" charset="0"/>
                          <a:cs typeface="Times New Roman" panose="02020603050405020304" pitchFamily="18" charset="0"/>
                        </a:rPr>
                        <a:t>An intelligent Embedded IoT system that monitors battery parameters in real time and utilizes Machine Learning to predict battery health, optimize charging, and enhance the safety and efficiency of Electric Vehicle batteries.</a:t>
                      </a:r>
                    </a:p>
                    <a:p>
                      <a:pPr marL="0" algn="l" defTabSz="914400" rtl="0" eaLnBrk="1" latinLnBrk="0" hangingPunct="1">
                        <a:spcAft>
                          <a:spcPts val="0"/>
                        </a:spcAft>
                      </a:pPr>
                      <a:endParaRPr lang="en-IN" sz="1800" b="1" kern="1200" dirty="0">
                        <a:solidFill>
                          <a:schemeClr val="tx1"/>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2459626104"/>
                  </a:ext>
                </a:extLst>
              </a:tr>
              <a:tr h="864225">
                <a:tc>
                  <a:txBody>
                    <a:bodyPr/>
                    <a:lstStyle/>
                    <a:p>
                      <a:pPr marL="0" algn="l" defTabSz="914400" rtl="0" eaLnBrk="1" latinLnBrk="0" hangingPunct="1">
                        <a:spcAft>
                          <a:spcPts val="0"/>
                        </a:spcAft>
                      </a:pPr>
                      <a:r>
                        <a:rPr lang="en-US" sz="1800" b="1" kern="1200" dirty="0">
                          <a:solidFill>
                            <a:schemeClr val="tx1"/>
                          </a:solidFill>
                          <a:latin typeface="Times New Roman" pitchFamily="18" charset="0"/>
                          <a:ea typeface="+mn-ea"/>
                          <a:cs typeface="Times New Roman" pitchFamily="18" charset="0"/>
                        </a:rPr>
                        <a:t>                                                               SDG Addressed</a:t>
                      </a:r>
                      <a:endParaRPr lang="en-IN" sz="1800" b="1" kern="1200" dirty="0">
                        <a:solidFill>
                          <a:schemeClr val="tx1"/>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chemeClr val="tx1"/>
                          </a:solidFill>
                          <a:latin typeface="Times New Roman" pitchFamily="18" charset="0"/>
                          <a:ea typeface="+mn-ea"/>
                          <a:cs typeface="Times New Roman" pitchFamily="18" charset="0"/>
                        </a:rPr>
                        <a:t>:</a:t>
                      </a:r>
                      <a:endParaRPr lang="en-IN" sz="1800" b="1" kern="1200">
                        <a:solidFill>
                          <a:schemeClr val="tx1"/>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chemeClr val="tx1"/>
                          </a:solidFill>
                          <a:latin typeface="Times New Roman" pitchFamily="18" charset="0"/>
                          <a:ea typeface="+mn-ea"/>
                          <a:cs typeface="Times New Roman" pitchFamily="18" charset="0"/>
                        </a:rPr>
                        <a:t>7, 9 ,11</a:t>
                      </a:r>
                      <a:endParaRPr lang="en-IN" sz="1800" b="1" kern="1200" dirty="0">
                        <a:solidFill>
                          <a:schemeClr val="tx1"/>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1308778691"/>
                  </a:ext>
                </a:extLst>
              </a:tr>
              <a:tr h="2026240">
                <a:tc>
                  <a:txBody>
                    <a:bodyPr/>
                    <a:lstStyle/>
                    <a:p>
                      <a:pPr marL="0" algn="l" defTabSz="914400" rtl="0" eaLnBrk="1" latinLnBrk="0" hangingPunct="1">
                        <a:spcAft>
                          <a:spcPts val="0"/>
                        </a:spcAft>
                      </a:pPr>
                      <a:r>
                        <a:rPr lang="en-US" sz="1800" b="1" kern="1200" dirty="0">
                          <a:solidFill>
                            <a:schemeClr val="tx1"/>
                          </a:solidFill>
                          <a:latin typeface="Times New Roman" pitchFamily="18" charset="0"/>
                          <a:ea typeface="+mn-ea"/>
                          <a:cs typeface="Times New Roman" pitchFamily="18" charset="0"/>
                        </a:rPr>
                        <a:t>                                                                       TRL Level</a:t>
                      </a:r>
                      <a:endParaRPr lang="en-IN" sz="1800" b="1" kern="1200" dirty="0">
                        <a:solidFill>
                          <a:schemeClr val="tx1"/>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chemeClr val="tx1"/>
                          </a:solidFill>
                          <a:latin typeface="Times New Roman" pitchFamily="18" charset="0"/>
                          <a:ea typeface="+mn-ea"/>
                          <a:cs typeface="Times New Roman" pitchFamily="18" charset="0"/>
                        </a:rPr>
                        <a:t>:</a:t>
                      </a:r>
                      <a:endParaRPr lang="en-IN" sz="1800" b="1" kern="1200">
                        <a:solidFill>
                          <a:schemeClr val="tx1"/>
                        </a:solidFill>
                        <a:latin typeface="Times New Roman" pitchFamily="18" charset="0"/>
                        <a:ea typeface="+mn-ea"/>
                        <a:cs typeface="Times New Roman" pitchFamily="18" charset="0"/>
                      </a:endParaRPr>
                    </a:p>
                  </a:txBody>
                  <a:tcPr marL="84560" marR="84560" marT="42280" marB="42280">
                    <a:noFill/>
                  </a:tcPr>
                </a:tc>
                <a:tc>
                  <a:txBody>
                    <a:bodyPr/>
                    <a:lstStyle/>
                    <a:p>
                      <a:pPr marL="0" lvl="0" indent="-342900" algn="l" defTabSz="914400" rtl="0" eaLnBrk="1" latinLnBrk="0" hangingPunct="1">
                        <a:spcAft>
                          <a:spcPts val="0"/>
                        </a:spcAft>
                        <a:tabLst>
                          <a:tab pos="457200" algn="l"/>
                        </a:tabLst>
                      </a:pPr>
                      <a:r>
                        <a:rPr lang="en-IN" sz="1800" b="1" kern="1200" dirty="0">
                          <a:solidFill>
                            <a:schemeClr val="tx1"/>
                          </a:solidFill>
                          <a:latin typeface="Times New Roman" pitchFamily="18" charset="0"/>
                          <a:ea typeface="+mn-ea"/>
                          <a:cs typeface="Times New Roman" pitchFamily="18" charset="0"/>
                        </a:rPr>
                        <a:t>5</a:t>
                      </a:r>
                    </a:p>
                  </a:txBody>
                  <a:tcPr marL="84560" marR="84560" marT="42280" marB="42280">
                    <a:noFill/>
                  </a:tcPr>
                </a:tc>
                <a:extLst>
                  <a:ext uri="{0D108BD9-81ED-4DB2-BD59-A6C34878D82A}">
                    <a16:rowId xmlns:a16="http://schemas.microsoft.com/office/drawing/2014/main" val="2610489306"/>
                  </a:ext>
                </a:extLst>
              </a:tr>
            </a:tbl>
          </a:graphicData>
        </a:graphic>
      </p:graphicFrame>
    </p:spTree>
    <p:extLst>
      <p:ext uri="{BB962C8B-B14F-4D97-AF65-F5344CB8AC3E}">
        <p14:creationId xmlns:p14="http://schemas.microsoft.com/office/powerpoint/2010/main" val="524203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OVERVIEW</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E393438-67B8-4262-B2F1-9984AFF131E1}" type="datetime1">
              <a:rPr lang="en-IN" smtClean="0"/>
              <a:t>16-06-2026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2</a:t>
            </a:fld>
            <a:endParaRPr lang="en-IN"/>
          </a:p>
        </p:txBody>
      </p:sp>
      <p:graphicFrame>
        <p:nvGraphicFramePr>
          <p:cNvPr id="7" name="Table 6">
            <a:extLst>
              <a:ext uri="{FF2B5EF4-FFF2-40B4-BE49-F238E27FC236}">
                <a16:creationId xmlns:a16="http://schemas.microsoft.com/office/drawing/2014/main" id="{F8AC95BB-A908-4029-9A89-567226C7F699}"/>
              </a:ext>
            </a:extLst>
          </p:cNvPr>
          <p:cNvGraphicFramePr>
            <a:graphicFrameLocks noGrp="1"/>
          </p:cNvGraphicFramePr>
          <p:nvPr>
            <p:extLst>
              <p:ext uri="{D42A27DB-BD31-4B8C-83A1-F6EECF244321}">
                <p14:modId xmlns:p14="http://schemas.microsoft.com/office/powerpoint/2010/main" val="40185107"/>
              </p:ext>
            </p:extLst>
          </p:nvPr>
        </p:nvGraphicFramePr>
        <p:xfrm>
          <a:off x="1415143" y="1132115"/>
          <a:ext cx="9332686" cy="4581281"/>
        </p:xfrm>
        <a:graphic>
          <a:graphicData uri="http://schemas.openxmlformats.org/drawingml/2006/table">
            <a:tbl>
              <a:tblPr firstRow="1" bandRow="1">
                <a:tableStyleId>{93296810-A885-4BE3-A3E7-6D5BEEA58F35}</a:tableStyleId>
              </a:tblPr>
              <a:tblGrid>
                <a:gridCol w="933269">
                  <a:extLst>
                    <a:ext uri="{9D8B030D-6E8A-4147-A177-3AD203B41FA5}">
                      <a16:colId xmlns:a16="http://schemas.microsoft.com/office/drawing/2014/main" val="20000"/>
                    </a:ext>
                  </a:extLst>
                </a:gridCol>
                <a:gridCol w="6346227">
                  <a:extLst>
                    <a:ext uri="{9D8B030D-6E8A-4147-A177-3AD203B41FA5}">
                      <a16:colId xmlns:a16="http://schemas.microsoft.com/office/drawing/2014/main" val="20001"/>
                    </a:ext>
                  </a:extLst>
                </a:gridCol>
                <a:gridCol w="2053190">
                  <a:extLst>
                    <a:ext uri="{9D8B030D-6E8A-4147-A177-3AD203B41FA5}">
                      <a16:colId xmlns:a16="http://schemas.microsoft.com/office/drawing/2014/main" val="20002"/>
                    </a:ext>
                  </a:extLst>
                </a:gridCol>
              </a:tblGrid>
              <a:tr h="381773">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S.NO</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CONTENTS</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SLIDE NO.</a:t>
                      </a:r>
                    </a:p>
                  </a:txBody>
                  <a:tcPr/>
                </a:tc>
                <a:extLst>
                  <a:ext uri="{0D108BD9-81ED-4DB2-BD59-A6C34878D82A}">
                    <a16:rowId xmlns:a16="http://schemas.microsoft.com/office/drawing/2014/main" val="10000"/>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1</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CHALLENGE STATEMENT</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4</a:t>
                      </a:r>
                    </a:p>
                  </a:txBody>
                  <a:tcPr/>
                </a:tc>
                <a:extLst>
                  <a:ext uri="{0D108BD9-81ED-4DB2-BD59-A6C34878D82A}">
                    <a16:rowId xmlns:a16="http://schemas.microsoft.com/office/drawing/2014/main" val="10001"/>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2</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LITERATURE SURVEY</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5</a:t>
                      </a:r>
                    </a:p>
                  </a:txBody>
                  <a:tcPr/>
                </a:tc>
                <a:extLst>
                  <a:ext uri="{0D108BD9-81ED-4DB2-BD59-A6C34878D82A}">
                    <a16:rowId xmlns:a16="http://schemas.microsoft.com/office/drawing/2014/main" val="10002"/>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3</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EXISTING METHOD</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6</a:t>
                      </a:r>
                    </a:p>
                  </a:txBody>
                  <a:tcPr/>
                </a:tc>
                <a:extLst>
                  <a:ext uri="{0D108BD9-81ED-4DB2-BD59-A6C34878D82A}">
                    <a16:rowId xmlns:a16="http://schemas.microsoft.com/office/drawing/2014/main" val="10003"/>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4</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PROPOSED METHOD</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7</a:t>
                      </a:r>
                    </a:p>
                  </a:txBody>
                  <a:tcPr/>
                </a:tc>
                <a:extLst>
                  <a:ext uri="{0D108BD9-81ED-4DB2-BD59-A6C34878D82A}">
                    <a16:rowId xmlns:a16="http://schemas.microsoft.com/office/drawing/2014/main" val="10004"/>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5</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BLOCK/SCHEMATIC DIAGRAM</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8</a:t>
                      </a:r>
                    </a:p>
                  </a:txBody>
                  <a:tcPr/>
                </a:tc>
                <a:extLst>
                  <a:ext uri="{0D108BD9-81ED-4DB2-BD59-A6C34878D82A}">
                    <a16:rowId xmlns:a16="http://schemas.microsoft.com/office/drawing/2014/main" val="10006"/>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6</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USE-CASE DIAGRAM</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9</a:t>
                      </a:r>
                    </a:p>
                  </a:txBody>
                  <a:tcPr/>
                </a:tc>
                <a:extLst>
                  <a:ext uri="{0D108BD9-81ED-4DB2-BD59-A6C34878D82A}">
                    <a16:rowId xmlns:a16="http://schemas.microsoft.com/office/drawing/2014/main" val="10007"/>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7</a:t>
                      </a:r>
                    </a:p>
                  </a:txBody>
                  <a:tcPr/>
                </a:tc>
                <a:tc>
                  <a:txBody>
                    <a:bodyPr/>
                    <a:lstStyle/>
                    <a:p>
                      <a:pPr marL="0" algn="ctr" defTabSz="914400" rtl="0" eaLnBrk="1" latinLnBrk="0" hangingPunct="1"/>
                      <a:r>
                        <a:rPr lang="en-IN" sz="1600" b="1" kern="1200" dirty="0">
                          <a:solidFill>
                            <a:srgbClr val="7030A0"/>
                          </a:solidFill>
                          <a:latin typeface="Times New Roman" panose="02020603050405020304" pitchFamily="18" charset="0"/>
                          <a:ea typeface="+mn-ea"/>
                          <a:cs typeface="Times New Roman" panose="02020603050405020304" pitchFamily="18" charset="0"/>
                        </a:rPr>
                        <a:t>SOFTWARE/HARDWARE IMPLEMENTATION VIDEO</a:t>
                      </a:r>
                      <a:endParaRPr lang="en-US" sz="1600" b="1" kern="1200" dirty="0">
                        <a:solidFill>
                          <a:srgbClr val="7030A0"/>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10</a:t>
                      </a:r>
                    </a:p>
                  </a:txBody>
                  <a:tcPr/>
                </a:tc>
                <a:extLst>
                  <a:ext uri="{0D108BD9-81ED-4DB2-BD59-A6C34878D82A}">
                    <a16:rowId xmlns:a16="http://schemas.microsoft.com/office/drawing/2014/main" val="10008"/>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8</a:t>
                      </a:r>
                    </a:p>
                  </a:txBody>
                  <a:tcPr/>
                </a:tc>
                <a:tc>
                  <a:txBody>
                    <a:bodyPr/>
                    <a:lstStyle/>
                    <a:p>
                      <a:pPr marL="0" algn="ctr" defTabSz="914400" rtl="0" eaLnBrk="1" latinLnBrk="0" hangingPunct="1"/>
                      <a:r>
                        <a:rPr lang="en-IN" sz="1600" b="1" kern="1200" dirty="0">
                          <a:solidFill>
                            <a:srgbClr val="7030A0"/>
                          </a:solidFill>
                          <a:latin typeface="Times New Roman" panose="02020603050405020304" pitchFamily="18" charset="0"/>
                          <a:ea typeface="+mn-ea"/>
                          <a:cs typeface="Times New Roman" panose="02020603050405020304" pitchFamily="18" charset="0"/>
                        </a:rPr>
                        <a:t>DESCRIPTION OF SOFTWARE/HARDWARE IMPLEMENTATION</a:t>
                      </a:r>
                      <a:endParaRPr lang="en-US" sz="1600" b="1" kern="1200" dirty="0">
                        <a:solidFill>
                          <a:srgbClr val="7030A0"/>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11</a:t>
                      </a:r>
                    </a:p>
                  </a:txBody>
                  <a:tcPr/>
                </a:tc>
                <a:extLst>
                  <a:ext uri="{0D108BD9-81ED-4DB2-BD59-A6C34878D82A}">
                    <a16:rowId xmlns:a16="http://schemas.microsoft.com/office/drawing/2014/main" val="10014"/>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9</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EXPERIMENTAL RESULTS</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12,13,14</a:t>
                      </a:r>
                    </a:p>
                  </a:txBody>
                  <a:tcPr/>
                </a:tc>
                <a:extLst>
                  <a:ext uri="{0D108BD9-81ED-4DB2-BD59-A6C34878D82A}">
                    <a16:rowId xmlns:a16="http://schemas.microsoft.com/office/drawing/2014/main" val="10010"/>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10</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CONCLUSION &amp; FUTURE WORK</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15</a:t>
                      </a:r>
                    </a:p>
                  </a:txBody>
                  <a:tcPr/>
                </a:tc>
                <a:extLst>
                  <a:ext uri="{0D108BD9-81ED-4DB2-BD59-A6C34878D82A}">
                    <a16:rowId xmlns:a16="http://schemas.microsoft.com/office/drawing/2014/main" val="10011"/>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11</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REFERENCES</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16,17</a:t>
                      </a:r>
                    </a:p>
                  </a:txBody>
                  <a:tcPr/>
                </a:tc>
                <a:extLst>
                  <a:ext uri="{0D108BD9-81ED-4DB2-BD59-A6C34878D82A}">
                    <a16:rowId xmlns:a16="http://schemas.microsoft.com/office/drawing/2014/main" val="10015"/>
                  </a:ext>
                </a:extLst>
              </a:tr>
              <a:tr h="349959">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12</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THANK YOU</a:t>
                      </a:r>
                    </a:p>
                  </a:txBody>
                  <a:tcPr/>
                </a:tc>
                <a:tc>
                  <a:txBody>
                    <a:bodyPr/>
                    <a:lstStyle/>
                    <a:p>
                      <a:pPr marL="0" algn="ctr" defTabSz="914400" rtl="0" eaLnBrk="1" latinLnBrk="0" hangingPunct="1"/>
                      <a:r>
                        <a:rPr lang="en-US" sz="1600" b="1" kern="1200" dirty="0">
                          <a:solidFill>
                            <a:srgbClr val="7030A0"/>
                          </a:solidFill>
                          <a:latin typeface="Times New Roman" panose="02020603050405020304" pitchFamily="18" charset="0"/>
                          <a:ea typeface="+mn-ea"/>
                          <a:cs typeface="Times New Roman" panose="02020603050405020304" pitchFamily="18" charset="0"/>
                        </a:rPr>
                        <a:t>18</a:t>
                      </a: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062895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title"/>
          </p:nvPr>
        </p:nvSpPr>
        <p:spPr bwMode="auto">
          <a:xfrm>
            <a:off x="838200" y="0"/>
            <a:ext cx="10515600"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800" b="1" dirty="0">
              <a:latin typeface="Calibri" panose="020F0502020204030204" pitchFamily="34" charset="0"/>
            </a:endParaRPr>
          </a:p>
          <a:p>
            <a:pPr algn="ctr" eaLnBrk="1" hangingPunct="1"/>
            <a:r>
              <a:rPr lang="en-US" altLang="en-US" sz="3200" b="1" dirty="0">
                <a:solidFill>
                  <a:srgbClr val="7030A0"/>
                </a:solidFill>
                <a:latin typeface="Times New Roman" panose="02020603050405020304" pitchFamily="18" charset="0"/>
                <a:cs typeface="Times New Roman" panose="02020603050405020304" pitchFamily="18" charset="0"/>
              </a:rPr>
              <a:t>CHALLENGE STATEMENT</a:t>
            </a:r>
          </a:p>
          <a:p>
            <a:pPr algn="ctr" eaLnBrk="1" hangingPunct="1"/>
            <a:endParaRPr lang="en-US" altLang="en-US" sz="2000" b="1" dirty="0">
              <a:latin typeface="Calibri" panose="020F0502020204030204" pitchFamily="34" charset="0"/>
            </a:endParaRPr>
          </a:p>
          <a:p>
            <a:pPr algn="ctr" eaLnBrk="1" hangingPunct="1"/>
            <a:endParaRPr lang="en-US" altLang="en-US" sz="1200" dirty="0">
              <a:latin typeface="Calibri" panose="020F0502020204030204" pitchFamily="34" charset="0"/>
            </a:endParaRPr>
          </a:p>
          <a:p>
            <a:pPr algn="ctr" eaLnBrk="1" hangingPunct="1"/>
            <a:endParaRPr lang="en-US" altLang="en-US" sz="1200" dirty="0">
              <a:latin typeface="Calibri" panose="020F0502020204030204" pitchFamily="34" charset="0"/>
            </a:endParaRPr>
          </a:p>
        </p:txBody>
      </p:sp>
      <p:sp>
        <p:nvSpPr>
          <p:cNvPr id="5" name="Date Placeholder 4"/>
          <p:cNvSpPr>
            <a:spLocks noGrp="1"/>
          </p:cNvSpPr>
          <p:nvPr>
            <p:ph type="dt" sz="half" idx="10"/>
          </p:nvPr>
        </p:nvSpPr>
        <p:spPr/>
        <p:txBody>
          <a:bodyPr/>
          <a:lstStyle/>
          <a:p>
            <a:fld id="{FBF64BED-58D3-4CB4-B7D2-07325763572E}" type="datetime1">
              <a:rPr lang="en-IN" smtClean="0"/>
              <a:t>16-06-2026</a:t>
            </a:fld>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3</a:t>
            </a:fld>
            <a:endParaRPr lang="en-IN"/>
          </a:p>
        </p:txBody>
      </p:sp>
      <p:sp>
        <p:nvSpPr>
          <p:cNvPr id="3" name="TextBox 2">
            <a:extLst>
              <a:ext uri="{FF2B5EF4-FFF2-40B4-BE49-F238E27FC236}">
                <a16:creationId xmlns:a16="http://schemas.microsoft.com/office/drawing/2014/main" id="{5227F194-30CD-8380-E700-7151837E7101}"/>
              </a:ext>
            </a:extLst>
          </p:cNvPr>
          <p:cNvSpPr txBox="1"/>
          <p:nvPr/>
        </p:nvSpPr>
        <p:spPr>
          <a:xfrm>
            <a:off x="838200" y="1151065"/>
            <a:ext cx="10515600" cy="493981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rPr>
              <a:t>Inefficient Battery Usage:</a:t>
            </a:r>
            <a:r>
              <a:rPr kumimoji="0" lang="en-US" altLang="en-US" sz="21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tabLst/>
            </a:pPr>
            <a:r>
              <a:rPr lang="en-US" altLang="en-US" sz="2100" dirty="0"/>
              <a:t>	</a:t>
            </a:r>
            <a:r>
              <a:rPr kumimoji="0" lang="en-US" altLang="en-US" sz="2100" b="0" i="0" u="none" strike="noStrike" cap="none" normalizeH="0" baseline="0" dirty="0">
                <a:ln>
                  <a:noFill/>
                </a:ln>
                <a:solidFill>
                  <a:schemeClr val="tx1"/>
                </a:solidFill>
                <a:effectLst/>
              </a:rPr>
              <a:t>Lack of real-time monitoring leads to poor battery performance and reduced lifespan in electric vehicles.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rPr>
              <a:t>Overheating and Safety Risks:</a:t>
            </a:r>
          </a:p>
          <a:p>
            <a:pPr marL="0" marR="0" lvl="0" indent="0" algn="l" defTabSz="914400" rtl="0" eaLnBrk="0" fontAlgn="base" latinLnBrk="0" hangingPunct="0">
              <a:lnSpc>
                <a:spcPct val="100000"/>
              </a:lnSpc>
              <a:spcBef>
                <a:spcPct val="0"/>
              </a:spcBef>
              <a:spcAft>
                <a:spcPct val="0"/>
              </a:spcAft>
              <a:buClrTx/>
              <a:buSzTx/>
              <a:tabLst/>
            </a:pPr>
            <a:r>
              <a:rPr lang="en-US" altLang="en-US" sz="2100" b="1" dirty="0"/>
              <a:t>	</a:t>
            </a:r>
            <a:r>
              <a:rPr kumimoji="0" lang="en-US" altLang="en-US" sz="2100" b="0" i="0" u="none" strike="noStrike" cap="none" normalizeH="0" baseline="0" dirty="0">
                <a:ln>
                  <a:noFill/>
                </a:ln>
                <a:solidFill>
                  <a:schemeClr val="tx1"/>
                </a:solidFill>
                <a:effectLst/>
              </a:rPr>
              <a:t> Absence of temperature control can result in overheating, causing potential safety hazards.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rPr>
              <a:t>No Predictive Maintenance:</a:t>
            </a:r>
            <a:r>
              <a:rPr kumimoji="0" lang="en-US" altLang="en-US" sz="21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tabLst/>
            </a:pPr>
            <a:r>
              <a:rPr lang="en-US" altLang="en-US" sz="2100" dirty="0"/>
              <a:t>	</a:t>
            </a:r>
            <a:r>
              <a:rPr kumimoji="0" lang="en-US" altLang="en-US" sz="2100" b="0" i="0" u="none" strike="noStrike" cap="none" normalizeH="0" baseline="0" dirty="0">
                <a:ln>
                  <a:noFill/>
                </a:ln>
                <a:solidFill>
                  <a:schemeClr val="tx1"/>
                </a:solidFill>
                <a:effectLst/>
              </a:rPr>
              <a:t>Traditional systems don’t use intelligent analysis to predict battery failures or optimize charging cycles.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rPr>
              <a:t>High-Cost Solutions:</a:t>
            </a:r>
          </a:p>
          <a:p>
            <a:pPr marL="0" marR="0" lvl="0" indent="0" algn="l" defTabSz="914400" rtl="0" eaLnBrk="0" fontAlgn="base" latinLnBrk="0" hangingPunct="0">
              <a:lnSpc>
                <a:spcPct val="100000"/>
              </a:lnSpc>
              <a:spcBef>
                <a:spcPct val="0"/>
              </a:spcBef>
              <a:spcAft>
                <a:spcPct val="0"/>
              </a:spcAft>
              <a:buClrTx/>
              <a:buSzTx/>
              <a:tabLst/>
            </a:pPr>
            <a:r>
              <a:rPr lang="en-US" altLang="en-US" sz="2100" b="1" dirty="0"/>
              <a:t>	</a:t>
            </a:r>
            <a:r>
              <a:rPr kumimoji="0" lang="en-US" altLang="en-US" sz="2100" b="0" i="0" u="none" strike="noStrike" cap="none" normalizeH="0" baseline="0" dirty="0">
                <a:ln>
                  <a:noFill/>
                </a:ln>
                <a:solidFill>
                  <a:schemeClr val="tx1"/>
                </a:solidFill>
                <a:effectLst/>
              </a:rPr>
              <a:t> Existing battery management systems are often expensive and not accessible for low-budget or small-scale EV implementations.</a:t>
            </a:r>
          </a:p>
        </p:txBody>
      </p:sp>
    </p:spTree>
    <p:extLst>
      <p:ext uri="{BB962C8B-B14F-4D97-AF65-F5344CB8AC3E}">
        <p14:creationId xmlns:p14="http://schemas.microsoft.com/office/powerpoint/2010/main" val="53768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62775"/>
            <a:ext cx="10515600" cy="926646"/>
          </a:xfrm>
        </p:spPr>
        <p:txBody>
          <a:bodyPr>
            <a:normAutofit/>
          </a:bodyPr>
          <a:lstStyle/>
          <a:p>
            <a:r>
              <a:rPr lang="en-US" altLang="en-US" sz="3200" b="1" dirty="0">
                <a:solidFill>
                  <a:srgbClr val="7030A0"/>
                </a:solidFill>
                <a:latin typeface="Times New Roman" panose="02020603050405020304" pitchFamily="18" charset="0"/>
                <a:cs typeface="Times New Roman" panose="02020603050405020304" pitchFamily="18" charset="0"/>
              </a:rPr>
              <a:t>LITERATURE SURVEY /  BACKGROUND STUDY</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46A8E122-72ED-4C03-95A5-F856646B0977}" type="datetime1">
              <a:rPr lang="en-IN" smtClean="0"/>
              <a:t>16-06-2026</a:t>
            </a:fld>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4</a:t>
            </a:fld>
            <a:endParaRPr lang="en-IN"/>
          </a:p>
        </p:txBody>
      </p:sp>
      <p:graphicFrame>
        <p:nvGraphicFramePr>
          <p:cNvPr id="4" name="Table 3">
            <a:extLst>
              <a:ext uri="{FF2B5EF4-FFF2-40B4-BE49-F238E27FC236}">
                <a16:creationId xmlns:a16="http://schemas.microsoft.com/office/drawing/2014/main" id="{92399DE6-68F8-C995-4A57-9984D59E029C}"/>
              </a:ext>
            </a:extLst>
          </p:cNvPr>
          <p:cNvGraphicFramePr>
            <a:graphicFrameLocks noGrp="1"/>
          </p:cNvGraphicFramePr>
          <p:nvPr>
            <p:extLst>
              <p:ext uri="{D42A27DB-BD31-4B8C-83A1-F6EECF244321}">
                <p14:modId xmlns:p14="http://schemas.microsoft.com/office/powerpoint/2010/main" val="3412430280"/>
              </p:ext>
            </p:extLst>
          </p:nvPr>
        </p:nvGraphicFramePr>
        <p:xfrm>
          <a:off x="0" y="824777"/>
          <a:ext cx="12192000" cy="5669280"/>
        </p:xfrm>
        <a:graphic>
          <a:graphicData uri="http://schemas.openxmlformats.org/drawingml/2006/table">
            <a:tbl>
              <a:tblPr firstRow="1" bandRow="1">
                <a:tableStyleId>{93296810-A885-4BE3-A3E7-6D5BEEA58F35}</a:tableStyleId>
              </a:tblPr>
              <a:tblGrid>
                <a:gridCol w="619930">
                  <a:extLst>
                    <a:ext uri="{9D8B030D-6E8A-4147-A177-3AD203B41FA5}">
                      <a16:colId xmlns:a16="http://schemas.microsoft.com/office/drawing/2014/main" val="2654342922"/>
                    </a:ext>
                  </a:extLst>
                </a:gridCol>
                <a:gridCol w="2425612">
                  <a:extLst>
                    <a:ext uri="{9D8B030D-6E8A-4147-A177-3AD203B41FA5}">
                      <a16:colId xmlns:a16="http://schemas.microsoft.com/office/drawing/2014/main" val="933793278"/>
                    </a:ext>
                  </a:extLst>
                </a:gridCol>
                <a:gridCol w="2136057">
                  <a:extLst>
                    <a:ext uri="{9D8B030D-6E8A-4147-A177-3AD203B41FA5}">
                      <a16:colId xmlns:a16="http://schemas.microsoft.com/office/drawing/2014/main" val="3171318489"/>
                    </a:ext>
                  </a:extLst>
                </a:gridCol>
                <a:gridCol w="2464231">
                  <a:extLst>
                    <a:ext uri="{9D8B030D-6E8A-4147-A177-3AD203B41FA5}">
                      <a16:colId xmlns:a16="http://schemas.microsoft.com/office/drawing/2014/main" val="3810005899"/>
                    </a:ext>
                  </a:extLst>
                </a:gridCol>
                <a:gridCol w="4546170">
                  <a:extLst>
                    <a:ext uri="{9D8B030D-6E8A-4147-A177-3AD203B41FA5}">
                      <a16:colId xmlns:a16="http://schemas.microsoft.com/office/drawing/2014/main" val="3644741172"/>
                    </a:ext>
                  </a:extLst>
                </a:gridCol>
              </a:tblGrid>
              <a:tr h="598785">
                <a:tc>
                  <a:txBody>
                    <a:bodyPr/>
                    <a:lstStyle/>
                    <a:p>
                      <a:r>
                        <a:rPr lang="en-IN" dirty="0"/>
                        <a:t>S. No</a:t>
                      </a:r>
                    </a:p>
                  </a:txBody>
                  <a:tcPr anchor="ctr"/>
                </a:tc>
                <a:tc>
                  <a:txBody>
                    <a:bodyPr/>
                    <a:lstStyle/>
                    <a:p>
                      <a:r>
                        <a:rPr lang="en-IN" dirty="0"/>
                        <a:t>TITLE</a:t>
                      </a:r>
                    </a:p>
                  </a:txBody>
                  <a:tcPr anchor="ctr"/>
                </a:tc>
                <a:tc>
                  <a:txBody>
                    <a:bodyPr/>
                    <a:lstStyle/>
                    <a:p>
                      <a:r>
                        <a:rPr lang="en-IN"/>
                        <a:t>AUTHOR(s)</a:t>
                      </a:r>
                    </a:p>
                  </a:txBody>
                  <a:tcPr anchor="ctr"/>
                </a:tc>
                <a:tc>
                  <a:txBody>
                    <a:bodyPr/>
                    <a:lstStyle/>
                    <a:p>
                      <a:r>
                        <a:rPr lang="en-IN"/>
                        <a:t>NAME OF ORGANIZATION &amp; YEAR</a:t>
                      </a:r>
                    </a:p>
                  </a:txBody>
                  <a:tcPr anchor="ctr"/>
                </a:tc>
                <a:tc>
                  <a:txBody>
                    <a:bodyPr/>
                    <a:lstStyle/>
                    <a:p>
                      <a:r>
                        <a:rPr lang="en-IN"/>
                        <a:t>DESCRIPTION</a:t>
                      </a:r>
                    </a:p>
                  </a:txBody>
                  <a:tcPr anchor="ctr"/>
                </a:tc>
                <a:extLst>
                  <a:ext uri="{0D108BD9-81ED-4DB2-BD59-A6C34878D82A}">
                    <a16:rowId xmlns:a16="http://schemas.microsoft.com/office/drawing/2014/main" val="3679040998"/>
                  </a:ext>
                </a:extLst>
              </a:tr>
              <a:tr h="1368650">
                <a:tc>
                  <a:txBody>
                    <a:bodyPr/>
                    <a:lstStyle/>
                    <a:p>
                      <a:r>
                        <a:rPr lang="en-IN"/>
                        <a:t>1</a:t>
                      </a:r>
                    </a:p>
                  </a:txBody>
                  <a:tcPr anchor="ctr"/>
                </a:tc>
                <a:tc>
                  <a:txBody>
                    <a:bodyPr/>
                    <a:lstStyle/>
                    <a:p>
                      <a:r>
                        <a:rPr lang="en-US" dirty="0"/>
                        <a:t>An Intelligent Battery Management System Using Machine Learning for Electric Vehicles</a:t>
                      </a:r>
                    </a:p>
                  </a:txBody>
                  <a:tcPr anchor="ctr"/>
                </a:tc>
                <a:tc>
                  <a:txBody>
                    <a:bodyPr/>
                    <a:lstStyle/>
                    <a:p>
                      <a:r>
                        <a:rPr lang="en-IN" dirty="0"/>
                        <a:t>R. Mehta, S. Goyal</a:t>
                      </a:r>
                    </a:p>
                  </a:txBody>
                  <a:tcPr anchor="ctr"/>
                </a:tc>
                <a:tc>
                  <a:txBody>
                    <a:bodyPr/>
                    <a:lstStyle/>
                    <a:p>
                      <a:r>
                        <a:rPr lang="en-IN" dirty="0"/>
                        <a:t>IEEE Access, 2021</a:t>
                      </a:r>
                    </a:p>
                  </a:txBody>
                  <a:tcPr anchor="ctr"/>
                </a:tc>
                <a:tc>
                  <a:txBody>
                    <a:bodyPr/>
                    <a:lstStyle/>
                    <a:p>
                      <a:r>
                        <a:rPr lang="en-US"/>
                        <a:t>• This paper discusses ML-based prediction models to monitor SoH (State of Health) and SoC (State of Charge). </a:t>
                      </a:r>
                      <a:br>
                        <a:rPr lang="en-US"/>
                      </a:br>
                      <a:r>
                        <a:rPr lang="en-US"/>
                        <a:t>• Real-time battery analytics were explored using supervised learning models.</a:t>
                      </a:r>
                    </a:p>
                  </a:txBody>
                  <a:tcPr anchor="ctr"/>
                </a:tc>
                <a:extLst>
                  <a:ext uri="{0D108BD9-81ED-4DB2-BD59-A6C34878D82A}">
                    <a16:rowId xmlns:a16="http://schemas.microsoft.com/office/drawing/2014/main" val="319523880"/>
                  </a:ext>
                </a:extLst>
              </a:tr>
              <a:tr h="1368650">
                <a:tc>
                  <a:txBody>
                    <a:bodyPr/>
                    <a:lstStyle/>
                    <a:p>
                      <a:r>
                        <a:rPr lang="en-IN" dirty="0"/>
                        <a:t>2</a:t>
                      </a:r>
                    </a:p>
                  </a:txBody>
                  <a:tcPr anchor="ctr"/>
                </a:tc>
                <a:tc>
                  <a:txBody>
                    <a:bodyPr/>
                    <a:lstStyle/>
                    <a:p>
                      <a:r>
                        <a:rPr lang="en-US"/>
                        <a:t>Design and Development of IoT-Based Battery Monitoring System for EVs</a:t>
                      </a:r>
                    </a:p>
                  </a:txBody>
                  <a:tcPr anchor="ctr"/>
                </a:tc>
                <a:tc>
                  <a:txBody>
                    <a:bodyPr/>
                    <a:lstStyle/>
                    <a:p>
                      <a:r>
                        <a:rPr lang="it-IT" dirty="0"/>
                        <a:t>L. Verma, A. K. Singh</a:t>
                      </a:r>
                    </a:p>
                  </a:txBody>
                  <a:tcPr anchor="ctr"/>
                </a:tc>
                <a:tc>
                  <a:txBody>
                    <a:bodyPr/>
                    <a:lstStyle/>
                    <a:p>
                      <a:r>
                        <a:rPr lang="en-US" dirty="0"/>
                        <a:t>International Journal of IoT and Embedded Systems, 2022</a:t>
                      </a:r>
                    </a:p>
                  </a:txBody>
                  <a:tcPr anchor="ctr"/>
                </a:tc>
                <a:tc>
                  <a:txBody>
                    <a:bodyPr/>
                    <a:lstStyle/>
                    <a:p>
                      <a:r>
                        <a:rPr lang="en-US"/>
                        <a:t>• Presents an IoT-based BMS using ESP32 and sensors to track temperature and voltage. </a:t>
                      </a:r>
                      <a:br>
                        <a:rPr lang="en-US"/>
                      </a:br>
                      <a:r>
                        <a:rPr lang="en-US"/>
                        <a:t>• Ensures cloud monitoring with MQTT protocol.</a:t>
                      </a:r>
                    </a:p>
                  </a:txBody>
                  <a:tcPr anchor="ctr"/>
                </a:tc>
                <a:extLst>
                  <a:ext uri="{0D108BD9-81ED-4DB2-BD59-A6C34878D82A}">
                    <a16:rowId xmlns:a16="http://schemas.microsoft.com/office/drawing/2014/main" val="3032395459"/>
                  </a:ext>
                </a:extLst>
              </a:tr>
              <a:tr h="855407">
                <a:tc>
                  <a:txBody>
                    <a:bodyPr/>
                    <a:lstStyle/>
                    <a:p>
                      <a:r>
                        <a:rPr lang="en-IN"/>
                        <a:t>3</a:t>
                      </a:r>
                    </a:p>
                  </a:txBody>
                  <a:tcPr anchor="ctr"/>
                </a:tc>
                <a:tc>
                  <a:txBody>
                    <a:bodyPr/>
                    <a:lstStyle/>
                    <a:p>
                      <a:r>
                        <a:rPr lang="en-US"/>
                        <a:t>Real-Time Battery Fault Detection Using AI Techniques</a:t>
                      </a:r>
                    </a:p>
                  </a:txBody>
                  <a:tcPr anchor="ctr"/>
                </a:tc>
                <a:tc>
                  <a:txBody>
                    <a:bodyPr/>
                    <a:lstStyle/>
                    <a:p>
                      <a:r>
                        <a:rPr lang="en-IN" dirty="0"/>
                        <a:t>S. Patel, M. Banerjee</a:t>
                      </a:r>
                    </a:p>
                  </a:txBody>
                  <a:tcPr anchor="ctr"/>
                </a:tc>
                <a:tc>
                  <a:txBody>
                    <a:bodyPr/>
                    <a:lstStyle/>
                    <a:p>
                      <a:r>
                        <a:rPr lang="en-US"/>
                        <a:t>Springer – Advances in Intelligent Systems and Computing, 2020</a:t>
                      </a:r>
                    </a:p>
                  </a:txBody>
                  <a:tcPr anchor="ctr"/>
                </a:tc>
                <a:tc>
                  <a:txBody>
                    <a:bodyPr/>
                    <a:lstStyle/>
                    <a:p>
                      <a:r>
                        <a:rPr lang="en-IN" dirty="0"/>
                        <a:t>• Discusses fault diagnosis using neural networks for lithium-ion batteries. </a:t>
                      </a:r>
                      <a:br>
                        <a:rPr lang="en-IN" dirty="0"/>
                      </a:br>
                      <a:r>
                        <a:rPr lang="en-IN" dirty="0"/>
                        <a:t>• Emphasizes fast anomaly detection.</a:t>
                      </a:r>
                    </a:p>
                  </a:txBody>
                  <a:tcPr anchor="ctr"/>
                </a:tc>
                <a:extLst>
                  <a:ext uri="{0D108BD9-81ED-4DB2-BD59-A6C34878D82A}">
                    <a16:rowId xmlns:a16="http://schemas.microsoft.com/office/drawing/2014/main" val="1176574254"/>
                  </a:ext>
                </a:extLst>
              </a:tr>
              <a:tr h="1112028">
                <a:tc>
                  <a:txBody>
                    <a:bodyPr/>
                    <a:lstStyle/>
                    <a:p>
                      <a:r>
                        <a:rPr lang="en-IN"/>
                        <a:t>4</a:t>
                      </a:r>
                    </a:p>
                  </a:txBody>
                  <a:tcPr anchor="ctr"/>
                </a:tc>
                <a:tc>
                  <a:txBody>
                    <a:bodyPr/>
                    <a:lstStyle/>
                    <a:p>
                      <a:r>
                        <a:rPr lang="en-US"/>
                        <a:t>Battery Management System Based on Fuzzy Logic for Electric Vehicles</a:t>
                      </a:r>
                    </a:p>
                  </a:txBody>
                  <a:tcPr anchor="ctr"/>
                </a:tc>
                <a:tc>
                  <a:txBody>
                    <a:bodyPr/>
                    <a:lstStyle/>
                    <a:p>
                      <a:r>
                        <a:rPr lang="en-IN"/>
                        <a:t>T. Nguyen, K. Lee</a:t>
                      </a:r>
                    </a:p>
                  </a:txBody>
                  <a:tcPr anchor="ctr"/>
                </a:tc>
                <a:tc>
                  <a:txBody>
                    <a:bodyPr/>
                    <a:lstStyle/>
                    <a:p>
                      <a:r>
                        <a:rPr lang="en-IN" dirty="0"/>
                        <a:t>IEEE Transactions on Vehicular Technology, 2019</a:t>
                      </a:r>
                    </a:p>
                  </a:txBody>
                  <a:tcPr anchor="ctr"/>
                </a:tc>
                <a:tc>
                  <a:txBody>
                    <a:bodyPr/>
                    <a:lstStyle/>
                    <a:p>
                      <a:r>
                        <a:rPr lang="en-US" dirty="0"/>
                        <a:t>• Introduces fuzzy logic-based balancing and control strategy in BMS. </a:t>
                      </a:r>
                      <a:br>
                        <a:rPr lang="en-US" dirty="0"/>
                      </a:br>
                      <a:r>
                        <a:rPr lang="en-US" dirty="0"/>
                        <a:t>• Enhances energy efficiency and life cycle.</a:t>
                      </a:r>
                    </a:p>
                  </a:txBody>
                  <a:tcPr anchor="ctr"/>
                </a:tc>
                <a:extLst>
                  <a:ext uri="{0D108BD9-81ED-4DB2-BD59-A6C34878D82A}">
                    <a16:rowId xmlns:a16="http://schemas.microsoft.com/office/drawing/2014/main" val="2827223822"/>
                  </a:ext>
                </a:extLst>
              </a:tr>
            </a:tbl>
          </a:graphicData>
        </a:graphic>
      </p:graphicFrame>
    </p:spTree>
    <p:extLst>
      <p:ext uri="{BB962C8B-B14F-4D97-AF65-F5344CB8AC3E}">
        <p14:creationId xmlns:p14="http://schemas.microsoft.com/office/powerpoint/2010/main" val="842943308"/>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029" y="234565"/>
            <a:ext cx="10515600" cy="1325563"/>
          </a:xfrm>
        </p:spPr>
        <p:txBody>
          <a:bodyPr>
            <a:normAutofit/>
          </a:bodyPr>
          <a:lstStyle/>
          <a:p>
            <a:pPr algn="ctr"/>
            <a:r>
              <a:rPr lang="en-US" altLang="en-US" sz="3200" b="1" dirty="0">
                <a:solidFill>
                  <a:srgbClr val="7030A0"/>
                </a:solidFill>
                <a:latin typeface="Times New Roman" panose="02020603050405020304" pitchFamily="18" charset="0"/>
                <a:cs typeface="Times New Roman" panose="02020603050405020304" pitchFamily="18" charset="0"/>
              </a:rPr>
              <a:t>EXISTING  METHOD</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29032"/>
            <a:ext cx="10562771" cy="4731621"/>
          </a:xfrm>
        </p:spPr>
        <p:txBody>
          <a:bodyPr>
            <a:normAutofit fontScale="85000" lnSpcReduction="10000"/>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Basic Monitoring Systems:</a:t>
            </a:r>
            <a:r>
              <a:rPr kumimoji="0" lang="en-US" altLang="en-US" sz="2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sz="2800" dirty="0"/>
              <a:t>	</a:t>
            </a:r>
            <a:r>
              <a:rPr kumimoji="0" lang="en-US" altLang="en-US" sz="2800" b="0" i="0" u="none" strike="noStrike" cap="none" normalizeH="0" baseline="0" dirty="0">
                <a:ln>
                  <a:noFill/>
                </a:ln>
                <a:solidFill>
                  <a:schemeClr val="tx1"/>
                </a:solidFill>
                <a:effectLst/>
              </a:rPr>
              <a:t>Use simple voltage and temperature sensors without predictive capabilities.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Commercial BMS Units:</a:t>
            </a:r>
            <a:r>
              <a:rPr kumimoji="0" lang="en-US" altLang="en-US" sz="2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sz="2800" dirty="0"/>
              <a:t>	</a:t>
            </a:r>
            <a:r>
              <a:rPr kumimoji="0" lang="en-US" altLang="en-US" sz="2800" b="0" i="0" u="none" strike="noStrike" cap="none" normalizeH="0" baseline="0" dirty="0">
                <a:ln>
                  <a:noFill/>
                </a:ln>
                <a:solidFill>
                  <a:schemeClr val="tx1"/>
                </a:solidFill>
                <a:effectLst/>
              </a:rPr>
              <a:t>Available in high-end EVs</a:t>
            </a:r>
            <a:r>
              <a:rPr lang="en-US" altLang="en-US" dirty="0"/>
              <a:t> </a:t>
            </a:r>
            <a:r>
              <a:rPr kumimoji="0" lang="en-US" altLang="en-US" sz="2800" b="0" i="0" u="none" strike="noStrike" cap="none" normalizeH="0" baseline="0" dirty="0">
                <a:ln>
                  <a:noFill/>
                </a:ln>
                <a:solidFill>
                  <a:schemeClr val="tx1"/>
                </a:solidFill>
                <a:effectLst/>
              </a:rPr>
              <a:t>but are expensive and closed-source.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IoT-Based Solutions:</a:t>
            </a:r>
            <a:r>
              <a:rPr kumimoji="0" lang="en-US" altLang="en-US" sz="2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sz="2800" dirty="0"/>
              <a:t>	</a:t>
            </a:r>
            <a:r>
              <a:rPr kumimoji="0" lang="en-US" altLang="en-US" sz="2800" b="0" i="0" u="none" strike="noStrike" cap="none" normalizeH="0" baseline="0" dirty="0">
                <a:ln>
                  <a:noFill/>
                </a:ln>
                <a:solidFill>
                  <a:schemeClr val="tx1"/>
                </a:solidFill>
                <a:effectLst/>
              </a:rPr>
              <a:t>Some use microcontrollers with cloud logging but lack advanced data analysis.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AI Integration in Premium Models:</a:t>
            </a:r>
            <a:r>
              <a:rPr kumimoji="0" lang="en-US" altLang="en-US" sz="2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sz="2800" dirty="0"/>
              <a:t>	</a:t>
            </a:r>
            <a:r>
              <a:rPr kumimoji="0" lang="en-US" altLang="en-US" sz="2800" b="0" i="0" u="none" strike="noStrike" cap="none" normalizeH="0" baseline="0" dirty="0">
                <a:ln>
                  <a:noFill/>
                </a:ln>
                <a:solidFill>
                  <a:schemeClr val="tx1"/>
                </a:solidFill>
                <a:effectLst/>
              </a:rPr>
              <a:t>Limited to research or high-end vehicles; not budget-friendly or scalable for small users.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indent="0">
              <a:buNone/>
            </a:pPr>
            <a:endParaRPr lang="en-IN" dirty="0"/>
          </a:p>
        </p:txBody>
      </p:sp>
      <p:sp>
        <p:nvSpPr>
          <p:cNvPr id="4" name="Date Placeholder 3"/>
          <p:cNvSpPr>
            <a:spLocks noGrp="1"/>
          </p:cNvSpPr>
          <p:nvPr>
            <p:ph type="dt" sz="half" idx="10"/>
          </p:nvPr>
        </p:nvSpPr>
        <p:spPr/>
        <p:txBody>
          <a:bodyPr/>
          <a:lstStyle/>
          <a:p>
            <a:fld id="{B792CDB6-4206-4A80-A090-94635E3F11CC}" type="datetime1">
              <a:rPr lang="en-IN" smtClean="0"/>
              <a:t>16-06-2026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5</a:t>
            </a:fld>
            <a:endParaRPr lang="en-IN"/>
          </a:p>
        </p:txBody>
      </p:sp>
    </p:spTree>
    <p:extLst>
      <p:ext uri="{BB962C8B-B14F-4D97-AF65-F5344CB8AC3E}">
        <p14:creationId xmlns:p14="http://schemas.microsoft.com/office/powerpoint/2010/main" val="1968391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5046"/>
          </a:xfrm>
        </p:spPr>
        <p:txBody>
          <a:bodyPr>
            <a:normAutofit/>
          </a:bodyPr>
          <a:lstStyle/>
          <a:p>
            <a:pPr algn="ctr"/>
            <a:r>
              <a:rPr lang="en-US" altLang="en-US" sz="3200" b="1" dirty="0">
                <a:solidFill>
                  <a:srgbClr val="7030A0"/>
                </a:solidFill>
                <a:latin typeface="Times New Roman" panose="02020603050405020304" pitchFamily="18" charset="0"/>
                <a:cs typeface="Times New Roman" panose="02020603050405020304" pitchFamily="18" charset="0"/>
              </a:rPr>
              <a:t>PROPOSED / INNOVATIVE METHOD</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7C78B18-D97F-4AE8-AF7B-306900D7C61E}" type="datetime1">
              <a:rPr lang="en-IN" smtClean="0"/>
              <a:t>16-06-2026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6</a:t>
            </a:fld>
            <a:endParaRPr lang="en-IN"/>
          </a:p>
        </p:txBody>
      </p:sp>
      <p:sp>
        <p:nvSpPr>
          <p:cNvPr id="6" name="Content Placeholder 2"/>
          <p:cNvSpPr>
            <a:spLocks noGrp="1"/>
          </p:cNvSpPr>
          <p:nvPr>
            <p:ph idx="1"/>
          </p:nvPr>
        </p:nvSpPr>
        <p:spPr>
          <a:xfrm>
            <a:off x="766916" y="1190172"/>
            <a:ext cx="10586884" cy="4758758"/>
          </a:xfrm>
        </p:spPr>
        <p:txBody>
          <a:bodyPr>
            <a:normAutofit fontScale="850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1"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Low-Cost Hardware Integration:</a:t>
            </a:r>
            <a:r>
              <a:rPr kumimoji="0" lang="en-US" altLang="en-US" sz="2800" b="0" i="0" u="none" strike="noStrike" cap="none" normalizeH="0" baseline="0" dirty="0">
                <a:ln>
                  <a:noFill/>
                </a:ln>
                <a:solidFill>
                  <a:schemeClr val="tx1"/>
                </a:solidFill>
                <a:effectLst/>
              </a:rPr>
              <a:t> </a:t>
            </a:r>
          </a:p>
          <a:p>
            <a:pPr marL="0" marR="0" lvl="0" indent="0" algn="just" defTabSz="914400" rtl="0" eaLnBrk="0" fontAlgn="base" latinLnBrk="0" hangingPunct="0">
              <a:lnSpc>
                <a:spcPct val="100000"/>
              </a:lnSpc>
              <a:spcBef>
                <a:spcPct val="0"/>
              </a:spcBef>
              <a:spcAft>
                <a:spcPct val="0"/>
              </a:spcAft>
              <a:buClrTx/>
              <a:buSzTx/>
              <a:buNone/>
              <a:tabLst/>
            </a:pPr>
            <a:r>
              <a:rPr lang="en-US" altLang="en-US" sz="2800" dirty="0"/>
              <a:t>	</a:t>
            </a:r>
            <a:r>
              <a:rPr kumimoji="0" lang="en-US" altLang="en-US" sz="2800" b="0" i="0" u="none" strike="noStrike" cap="none" normalizeH="0" baseline="0" dirty="0">
                <a:ln>
                  <a:noFill/>
                </a:ln>
                <a:solidFill>
                  <a:schemeClr val="tx1"/>
                </a:solidFill>
                <a:effectLst/>
              </a:rPr>
              <a:t>Use ESP32 with voltage and temperature sensors for real-time monitoring.</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Smart Data Collection:</a:t>
            </a:r>
            <a:r>
              <a:rPr kumimoji="0" lang="en-US" altLang="en-US" sz="2800" b="0" i="0" u="none" strike="noStrike" cap="none" normalizeH="0" baseline="0" dirty="0">
                <a:ln>
                  <a:noFill/>
                </a:ln>
                <a:solidFill>
                  <a:schemeClr val="tx1"/>
                </a:solidFill>
                <a:effectLst/>
              </a:rPr>
              <a:t> </a:t>
            </a:r>
          </a:p>
          <a:p>
            <a:pPr marL="0" marR="0" lvl="0" indent="0" algn="just" defTabSz="914400" rtl="0" eaLnBrk="0" fontAlgn="base" latinLnBrk="0" hangingPunct="0">
              <a:lnSpc>
                <a:spcPct val="100000"/>
              </a:lnSpc>
              <a:spcBef>
                <a:spcPct val="0"/>
              </a:spcBef>
              <a:spcAft>
                <a:spcPct val="0"/>
              </a:spcAft>
              <a:buClrTx/>
              <a:buSzTx/>
              <a:buNone/>
              <a:tabLst/>
            </a:pPr>
            <a:r>
              <a:rPr lang="en-US" altLang="en-US" sz="2800" dirty="0"/>
              <a:t>	</a:t>
            </a:r>
            <a:r>
              <a:rPr kumimoji="0" lang="en-US" altLang="en-US" sz="2800" b="0" i="0" u="none" strike="noStrike" cap="none" normalizeH="0" baseline="0" dirty="0">
                <a:ln>
                  <a:noFill/>
                </a:ln>
                <a:solidFill>
                  <a:schemeClr val="tx1"/>
                </a:solidFill>
                <a:effectLst/>
              </a:rPr>
              <a:t>Continuously log battery voltage, temperature, and charging/discharging time.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AI-Based Analysis:</a:t>
            </a:r>
            <a:r>
              <a:rPr kumimoji="0" lang="en-US" altLang="en-US" sz="2800" b="0" i="0" u="none" strike="noStrike" cap="none" normalizeH="0" baseline="0" dirty="0">
                <a:ln>
                  <a:noFill/>
                </a:ln>
                <a:solidFill>
                  <a:schemeClr val="tx1"/>
                </a:solidFill>
                <a:effectLst/>
              </a:rPr>
              <a:t> </a:t>
            </a:r>
          </a:p>
          <a:p>
            <a:pPr marL="0" marR="0" lvl="0" indent="0" algn="just" defTabSz="914400" rtl="0" eaLnBrk="0" fontAlgn="base" latinLnBrk="0" hangingPunct="0">
              <a:lnSpc>
                <a:spcPct val="100000"/>
              </a:lnSpc>
              <a:spcBef>
                <a:spcPct val="0"/>
              </a:spcBef>
              <a:spcAft>
                <a:spcPct val="0"/>
              </a:spcAft>
              <a:buClrTx/>
              <a:buSzTx/>
              <a:buNone/>
              <a:tabLst/>
            </a:pPr>
            <a:r>
              <a:rPr lang="en-US" altLang="en-US" sz="2800" dirty="0"/>
              <a:t>	</a:t>
            </a:r>
            <a:r>
              <a:rPr kumimoji="0" lang="en-US" altLang="en-US" sz="2800" b="0" i="0" u="none" strike="noStrike" cap="none" normalizeH="0" baseline="0" dirty="0">
                <a:ln>
                  <a:noFill/>
                </a:ln>
                <a:solidFill>
                  <a:schemeClr val="tx1"/>
                </a:solidFill>
                <a:effectLst/>
              </a:rPr>
              <a:t>Apply machine learning algorithms in Python to predict battery health and optimize usage.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User-Friendly Output:</a:t>
            </a:r>
            <a:r>
              <a:rPr kumimoji="0" lang="en-US" altLang="en-US" sz="2800" b="0" i="0" u="none" strike="noStrike" cap="none" normalizeH="0" baseline="0" dirty="0">
                <a:ln>
                  <a:noFill/>
                </a:ln>
                <a:solidFill>
                  <a:schemeClr val="tx1"/>
                </a:solidFill>
                <a:effectLst/>
              </a:rPr>
              <a:t> </a:t>
            </a:r>
          </a:p>
          <a:p>
            <a:pPr marL="0" marR="0" lvl="0" indent="0" algn="just" defTabSz="914400" rtl="0" eaLnBrk="0" fontAlgn="base" latinLnBrk="0" hangingPunct="0">
              <a:lnSpc>
                <a:spcPct val="100000"/>
              </a:lnSpc>
              <a:spcBef>
                <a:spcPct val="0"/>
              </a:spcBef>
              <a:spcAft>
                <a:spcPct val="0"/>
              </a:spcAft>
              <a:buClrTx/>
              <a:buSzTx/>
              <a:buNone/>
              <a:tabLst/>
            </a:pPr>
            <a:r>
              <a:rPr lang="en-US" altLang="en-US" sz="2800" dirty="0"/>
              <a:t>	</a:t>
            </a:r>
            <a:r>
              <a:rPr kumimoji="0" lang="en-US" altLang="en-US" sz="2800" b="0" i="0" u="none" strike="noStrike" cap="none" normalizeH="0" baseline="0" dirty="0">
                <a:ln>
                  <a:noFill/>
                </a:ln>
                <a:solidFill>
                  <a:schemeClr val="tx1"/>
                </a:solidFill>
                <a:effectLst/>
              </a:rPr>
              <a:t>Provide insights through a simple dashboard or display, enabling proactive battery maintenance.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2231136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3200" b="1" dirty="0">
                <a:solidFill>
                  <a:srgbClr val="7030A0"/>
                </a:solidFill>
                <a:latin typeface="Times New Roman" panose="02020603050405020304" pitchFamily="18" charset="0"/>
                <a:cs typeface="Times New Roman" panose="02020603050405020304" pitchFamily="18" charset="0"/>
              </a:rPr>
              <a:t>BLOCK / SCHEMATIC DIAGRAM</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5096EF4-7C68-4B06-98F6-075B163E3C22}" type="datetime1">
              <a:rPr lang="en-IN" smtClean="0"/>
              <a:t>16-06-2026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7</a:t>
            </a:fld>
            <a:endParaRPr lang="en-IN"/>
          </a:p>
        </p:txBody>
      </p:sp>
      <p:sp>
        <p:nvSpPr>
          <p:cNvPr id="6" name="Text Placeholder 1"/>
          <p:cNvSpPr txBox="1">
            <a:spLocks/>
          </p:cNvSpPr>
          <p:nvPr/>
        </p:nvSpPr>
        <p:spPr bwMode="auto">
          <a:xfrm>
            <a:off x="1752600" y="1690688"/>
            <a:ext cx="8686800" cy="434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altLang="en-US" dirty="0"/>
          </a:p>
        </p:txBody>
      </p:sp>
      <p:pic>
        <p:nvPicPr>
          <p:cNvPr id="3" name="Picture 2">
            <a:extLst>
              <a:ext uri="{FF2B5EF4-FFF2-40B4-BE49-F238E27FC236}">
                <a16:creationId xmlns:a16="http://schemas.microsoft.com/office/drawing/2014/main" id="{5635F66D-644F-9FD2-FD59-F5AA0B305660}"/>
              </a:ext>
            </a:extLst>
          </p:cNvPr>
          <p:cNvPicPr>
            <a:picLocks noChangeAspect="1"/>
          </p:cNvPicPr>
          <p:nvPr/>
        </p:nvPicPr>
        <p:blipFill>
          <a:blip r:embed="rId2"/>
          <a:stretch>
            <a:fillRect/>
          </a:stretch>
        </p:blipFill>
        <p:spPr>
          <a:xfrm>
            <a:off x="3809802" y="1534663"/>
            <a:ext cx="4572396" cy="4655450"/>
          </a:xfrm>
          <a:prstGeom prst="rect">
            <a:avLst/>
          </a:prstGeom>
        </p:spPr>
      </p:pic>
    </p:spTree>
    <p:extLst>
      <p:ext uri="{BB962C8B-B14F-4D97-AF65-F5344CB8AC3E}">
        <p14:creationId xmlns:p14="http://schemas.microsoft.com/office/powerpoint/2010/main" val="1715851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3200" b="1" dirty="0">
                <a:solidFill>
                  <a:srgbClr val="7030A0"/>
                </a:solidFill>
                <a:latin typeface="Times New Roman" panose="02020603050405020304" pitchFamily="18" charset="0"/>
                <a:cs typeface="Times New Roman" panose="02020603050405020304" pitchFamily="18" charset="0"/>
              </a:rPr>
              <a:t>USE CASE DIAGRAM</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E393438-67B8-4262-B2F1-9984AFF131E1}" type="datetime1">
              <a:rPr lang="en-IN" smtClean="0"/>
              <a:t>16-06-2026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8</a:t>
            </a:fld>
            <a:endParaRPr lang="en-IN"/>
          </a:p>
        </p:txBody>
      </p:sp>
      <p:pic>
        <p:nvPicPr>
          <p:cNvPr id="7" name="Content Placeholder 11">
            <a:extLst>
              <a:ext uri="{FF2B5EF4-FFF2-40B4-BE49-F238E27FC236}">
                <a16:creationId xmlns:a16="http://schemas.microsoft.com/office/drawing/2014/main" id="{88CC0607-D860-CF58-6D81-396FE850EC51}"/>
              </a:ext>
            </a:extLst>
          </p:cNvPr>
          <p:cNvPicPr>
            <a:picLocks noGrp="1" noChangeAspect="1"/>
          </p:cNvPicPr>
          <p:nvPr>
            <p:ph idx="1"/>
          </p:nvPr>
        </p:nvPicPr>
        <p:blipFill>
          <a:blip r:embed="rId2"/>
          <a:stretch>
            <a:fillRect/>
          </a:stretch>
        </p:blipFill>
        <p:spPr>
          <a:xfrm>
            <a:off x="2989706" y="1586044"/>
            <a:ext cx="6459091" cy="4874951"/>
          </a:xfrm>
        </p:spPr>
      </p:pic>
    </p:spTree>
    <p:extLst>
      <p:ext uri="{BB962C8B-B14F-4D97-AF65-F5344CB8AC3E}">
        <p14:creationId xmlns:p14="http://schemas.microsoft.com/office/powerpoint/2010/main" val="1344989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ltLang="en-US" b="1" dirty="0">
                <a:solidFill>
                  <a:srgbClr val="000000"/>
                </a:solidFill>
              </a:rPr>
              <a:t>A detailed solution demo explaining the Proof of Concept (</a:t>
            </a:r>
            <a:r>
              <a:rPr lang="en-US" altLang="en-US" b="1" dirty="0" err="1">
                <a:solidFill>
                  <a:srgbClr val="000000"/>
                </a:solidFill>
              </a:rPr>
              <a:t>PoC</a:t>
            </a:r>
            <a:r>
              <a:rPr lang="en-US" altLang="en-US" b="1" dirty="0">
                <a:solidFill>
                  <a:srgbClr val="000000"/>
                </a:solidFill>
              </a:rPr>
              <a:t>)</a:t>
            </a:r>
          </a:p>
          <a:p>
            <a:endParaRPr lang="en-IN" dirty="0"/>
          </a:p>
        </p:txBody>
      </p:sp>
      <p:sp>
        <p:nvSpPr>
          <p:cNvPr id="4" name="Date Placeholder 3"/>
          <p:cNvSpPr>
            <a:spLocks noGrp="1"/>
          </p:cNvSpPr>
          <p:nvPr>
            <p:ph type="dt" sz="half" idx="10"/>
          </p:nvPr>
        </p:nvSpPr>
        <p:spPr/>
        <p:txBody>
          <a:bodyPr/>
          <a:lstStyle/>
          <a:p>
            <a:fld id="{8E393438-67B8-4262-B2F1-9984AFF131E1}" type="datetime1">
              <a:rPr lang="en-IN" smtClean="0"/>
              <a:t>16-06-2026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9</a:t>
            </a:fld>
            <a:endParaRPr lang="en-IN"/>
          </a:p>
        </p:txBody>
      </p:sp>
      <p:sp>
        <p:nvSpPr>
          <p:cNvPr id="6" name="Title 2"/>
          <p:cNvSpPr>
            <a:spLocks noGrp="1"/>
          </p:cNvSpPr>
          <p:nvPr>
            <p:ph type="title"/>
          </p:nvPr>
        </p:nvSpPr>
        <p:spPr>
          <a:xfrm>
            <a:off x="1143000" y="320675"/>
            <a:ext cx="10515600" cy="1325563"/>
          </a:xfrm>
        </p:spPr>
        <p:txBody>
          <a:bodyPr>
            <a:normAutofit/>
          </a:bodyPr>
          <a:lstStyle/>
          <a:p>
            <a:pPr algn="ctr"/>
            <a:r>
              <a:rPr lang="en-IN" sz="3200" b="1" dirty="0">
                <a:solidFill>
                  <a:srgbClr val="7030A0"/>
                </a:solidFill>
                <a:latin typeface="Times New Roman" panose="02020603050405020304" pitchFamily="18" charset="0"/>
                <a:cs typeface="Times New Roman" panose="02020603050405020304" pitchFamily="18" charset="0"/>
              </a:rPr>
              <a:t>SOFTWARE/HARDWARE IMPLEMENTATION VIDEO</a:t>
            </a:r>
            <a:endParaRPr lang="en-IN" altLang="en-US" sz="3200"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8592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714"/>
            <a:ext cx="10515600" cy="1325563"/>
          </a:xfrm>
        </p:spPr>
        <p:txBody>
          <a:bodyPr>
            <a:normAutofit/>
          </a:bodyPr>
          <a:lstStyle/>
          <a:p>
            <a:pPr algn="ctr"/>
            <a:r>
              <a:rPr lang="en-IN" sz="3200" b="1" dirty="0">
                <a:solidFill>
                  <a:srgbClr val="7030A0"/>
                </a:solidFill>
                <a:latin typeface="Times New Roman" panose="02020603050405020304" pitchFamily="18" charset="0"/>
                <a:cs typeface="Times New Roman" panose="02020603050405020304" pitchFamily="18" charset="0"/>
              </a:rPr>
              <a:t>DESCRIPTION OF SOFTWARE/HARDWARE IMPLEMENTATION</a:t>
            </a:r>
            <a:endParaRPr lang="en-IN" sz="3200" dirty="0"/>
          </a:p>
        </p:txBody>
      </p:sp>
      <p:sp>
        <p:nvSpPr>
          <p:cNvPr id="4" name="Date Placeholder 3"/>
          <p:cNvSpPr>
            <a:spLocks noGrp="1"/>
          </p:cNvSpPr>
          <p:nvPr>
            <p:ph type="dt" sz="half" idx="10"/>
          </p:nvPr>
        </p:nvSpPr>
        <p:spPr/>
        <p:txBody>
          <a:bodyPr/>
          <a:lstStyle/>
          <a:p>
            <a:fld id="{8E393438-67B8-4262-B2F1-9984AFF131E1}" type="datetime1">
              <a:rPr lang="en-IN" smtClean="0"/>
              <a:t>16-06-2026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10</a:t>
            </a:fld>
            <a:endParaRPr lang="en-IN"/>
          </a:p>
        </p:txBody>
      </p:sp>
      <p:pic>
        <p:nvPicPr>
          <p:cNvPr id="6" name="Content Placeholder 5">
            <a:extLst>
              <a:ext uri="{FF2B5EF4-FFF2-40B4-BE49-F238E27FC236}">
                <a16:creationId xmlns:a16="http://schemas.microsoft.com/office/drawing/2014/main" id="{16460382-E17B-B36D-453B-0B85CCD93483}"/>
              </a:ext>
            </a:extLst>
          </p:cNvPr>
          <p:cNvPicPr>
            <a:picLocks noGrp="1" noChangeAspect="1"/>
          </p:cNvPicPr>
          <p:nvPr>
            <p:ph idx="1"/>
          </p:nvPr>
        </p:nvPicPr>
        <p:blipFill>
          <a:blip r:embed="rId2"/>
          <a:stretch>
            <a:fillRect/>
          </a:stretch>
        </p:blipFill>
        <p:spPr>
          <a:xfrm>
            <a:off x="1140542" y="1448518"/>
            <a:ext cx="10213258" cy="5002592"/>
          </a:xfrm>
          <a:prstGeom prst="rect">
            <a:avLst/>
          </a:prstGeom>
        </p:spPr>
      </p:pic>
    </p:spTree>
    <p:extLst>
      <p:ext uri="{BB962C8B-B14F-4D97-AF65-F5344CB8AC3E}">
        <p14:creationId xmlns:p14="http://schemas.microsoft.com/office/powerpoint/2010/main" val="2264256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4845" y="195519"/>
            <a:ext cx="10515600" cy="1325563"/>
          </a:xfrm>
        </p:spPr>
        <p:txBody>
          <a:bodyPr>
            <a:normAutofit/>
          </a:bodyPr>
          <a:lstStyle/>
          <a:p>
            <a:pPr algn="ctr"/>
            <a:r>
              <a:rPr lang="en-IN" altLang="en-US" sz="3200" b="1" dirty="0">
                <a:solidFill>
                  <a:srgbClr val="7030A0"/>
                </a:solidFill>
                <a:latin typeface="Times New Roman" panose="02020603050405020304" pitchFamily="18" charset="0"/>
                <a:cs typeface="Times New Roman" panose="02020603050405020304" pitchFamily="18" charset="0"/>
              </a:rPr>
              <a:t>EXPERIMENTAL RESULTS</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E393438-67B8-4262-B2F1-9984AFF131E1}" type="datetime1">
              <a:rPr lang="en-IN" smtClean="0"/>
              <a:t>16-06-2026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11</a:t>
            </a:fld>
            <a:endParaRPr lang="en-IN"/>
          </a:p>
        </p:txBody>
      </p:sp>
      <p:pic>
        <p:nvPicPr>
          <p:cNvPr id="6" name="Content Placeholder 5">
            <a:extLst>
              <a:ext uri="{FF2B5EF4-FFF2-40B4-BE49-F238E27FC236}">
                <a16:creationId xmlns:a16="http://schemas.microsoft.com/office/drawing/2014/main" id="{27F07D94-DC80-0685-A7E3-B6A2DFC1A2B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23568" y="1388806"/>
            <a:ext cx="5840360" cy="4729316"/>
          </a:xfrm>
          <a:prstGeom prst="rect">
            <a:avLst/>
          </a:prstGeom>
          <a:noFill/>
          <a:ln>
            <a:noFill/>
          </a:ln>
        </p:spPr>
      </p:pic>
      <p:pic>
        <p:nvPicPr>
          <p:cNvPr id="7" name="Picture 6">
            <a:extLst>
              <a:ext uri="{FF2B5EF4-FFF2-40B4-BE49-F238E27FC236}">
                <a16:creationId xmlns:a16="http://schemas.microsoft.com/office/drawing/2014/main" id="{CF3C4E73-1CCF-898E-C83F-3BBF2D67366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1976" y="1388806"/>
            <a:ext cx="5374049" cy="4729316"/>
          </a:xfrm>
          <a:prstGeom prst="rect">
            <a:avLst/>
          </a:prstGeom>
          <a:noFill/>
          <a:ln>
            <a:noFill/>
          </a:ln>
        </p:spPr>
      </p:pic>
    </p:spTree>
    <p:extLst>
      <p:ext uri="{BB962C8B-B14F-4D97-AF65-F5344CB8AC3E}">
        <p14:creationId xmlns:p14="http://schemas.microsoft.com/office/powerpoint/2010/main" val="2645061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810D66-2AC1-7A67-D4FE-0DA63000153E}"/>
              </a:ext>
            </a:extLst>
          </p:cNvPr>
          <p:cNvSpPr>
            <a:spLocks noGrp="1"/>
          </p:cNvSpPr>
          <p:nvPr>
            <p:ph type="dt" sz="half" idx="10"/>
          </p:nvPr>
        </p:nvSpPr>
        <p:spPr/>
        <p:txBody>
          <a:bodyPr/>
          <a:lstStyle/>
          <a:p>
            <a:fld id="{9F1065F4-9D49-466F-B5D3-3E5BE6953EEA}" type="datetime1">
              <a:rPr lang="en-IN" smtClean="0"/>
              <a:t>16-06-2026</a:t>
            </a:fld>
            <a:endParaRPr lang="en-IN"/>
          </a:p>
        </p:txBody>
      </p:sp>
      <p:sp>
        <p:nvSpPr>
          <p:cNvPr id="3" name="Slide Number Placeholder 2">
            <a:extLst>
              <a:ext uri="{FF2B5EF4-FFF2-40B4-BE49-F238E27FC236}">
                <a16:creationId xmlns:a16="http://schemas.microsoft.com/office/drawing/2014/main" id="{089F63CF-8310-7C40-C6AD-B56A41E3615C}"/>
              </a:ext>
            </a:extLst>
          </p:cNvPr>
          <p:cNvSpPr>
            <a:spLocks noGrp="1"/>
          </p:cNvSpPr>
          <p:nvPr>
            <p:ph type="sldNum" sz="quarter" idx="12"/>
          </p:nvPr>
        </p:nvSpPr>
        <p:spPr/>
        <p:txBody>
          <a:bodyPr/>
          <a:lstStyle/>
          <a:p>
            <a:fld id="{FF913B45-0786-488C-9F83-DB626DC1C02A}" type="slidenum">
              <a:rPr lang="en-IN" smtClean="0"/>
              <a:t>12</a:t>
            </a:fld>
            <a:endParaRPr lang="en-IN"/>
          </a:p>
        </p:txBody>
      </p:sp>
      <p:pic>
        <p:nvPicPr>
          <p:cNvPr id="4" name="Picture 3">
            <a:extLst>
              <a:ext uri="{FF2B5EF4-FFF2-40B4-BE49-F238E27FC236}">
                <a16:creationId xmlns:a16="http://schemas.microsoft.com/office/drawing/2014/main" id="{49D2713F-C069-8869-0248-5DE434E292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0272"/>
            <a:ext cx="4766187" cy="3100070"/>
          </a:xfrm>
          <a:prstGeom prst="rect">
            <a:avLst/>
          </a:prstGeom>
          <a:noFill/>
          <a:ln>
            <a:noFill/>
          </a:ln>
        </p:spPr>
      </p:pic>
      <p:sp>
        <p:nvSpPr>
          <p:cNvPr id="6" name="TextBox 5">
            <a:extLst>
              <a:ext uri="{FF2B5EF4-FFF2-40B4-BE49-F238E27FC236}">
                <a16:creationId xmlns:a16="http://schemas.microsoft.com/office/drawing/2014/main" id="{6DF058CB-8412-F0F9-B94C-75A04EC3984E}"/>
              </a:ext>
            </a:extLst>
          </p:cNvPr>
          <p:cNvSpPr txBox="1"/>
          <p:nvPr/>
        </p:nvSpPr>
        <p:spPr>
          <a:xfrm>
            <a:off x="924233" y="3429000"/>
            <a:ext cx="5034115" cy="2554545"/>
          </a:xfrm>
          <a:prstGeom prst="rect">
            <a:avLst/>
          </a:prstGeom>
          <a:noFill/>
        </p:spPr>
        <p:txBody>
          <a:bodyPr wrap="square">
            <a:spAutoFit/>
          </a:bodyPr>
          <a:lstStyle/>
          <a:p>
            <a:pPr marL="342900" lvl="0" indent="-342900">
              <a:buFont typeface="Wingdings" panose="05000000000000000000" pitchFamily="2" charset="2"/>
              <a:buChar char=""/>
            </a:pPr>
            <a:r>
              <a:rPr lang="en-IN" sz="1600" dirty="0">
                <a:effectLst/>
                <a:latin typeface="Times New Roman" panose="02020603050405020304" pitchFamily="18" charset="0"/>
                <a:ea typeface="Times New Roman" panose="02020603050405020304" pitchFamily="18" charset="0"/>
              </a:rPr>
              <a:t>Mean Squared Error (MSE) for Time [s]: </a:t>
            </a:r>
            <a:r>
              <a:rPr lang="en-IN" sz="1600" b="1" dirty="0">
                <a:effectLst/>
                <a:latin typeface="Times New Roman" panose="02020603050405020304" pitchFamily="18" charset="0"/>
                <a:ea typeface="Times New Roman" panose="02020603050405020304" pitchFamily="18" charset="0"/>
              </a:rPr>
              <a:t>186.5834</a:t>
            </a:r>
            <a:endParaRPr lang="en-IN" sz="1600" dirty="0">
              <a:effectLst/>
              <a:latin typeface="Times New Roman" panose="02020603050405020304" pitchFamily="18" charset="0"/>
              <a:ea typeface="Times New Roman" panose="02020603050405020304" pitchFamily="18" charset="0"/>
            </a:endParaRPr>
          </a:p>
          <a:p>
            <a:pPr marL="342900" lvl="0" indent="-342900">
              <a:buFont typeface="Wingdings" panose="05000000000000000000" pitchFamily="2" charset="2"/>
              <a:buChar char=""/>
            </a:pPr>
            <a:r>
              <a:rPr lang="en-IN" sz="1600" dirty="0">
                <a:effectLst/>
                <a:latin typeface="Times New Roman" panose="02020603050405020304" pitchFamily="18" charset="0"/>
                <a:ea typeface="Times New Roman" panose="02020603050405020304" pitchFamily="18" charset="0"/>
              </a:rPr>
              <a:t>Mean Absolute Error (MAE) for Time [s]: </a:t>
            </a:r>
            <a:r>
              <a:rPr lang="en-IN" sz="1600" b="1" dirty="0">
                <a:effectLst/>
                <a:latin typeface="Times New Roman" panose="02020603050405020304" pitchFamily="18" charset="0"/>
                <a:ea typeface="Times New Roman" panose="02020603050405020304" pitchFamily="18" charset="0"/>
              </a:rPr>
              <a:t>11.3046</a:t>
            </a:r>
            <a:endParaRPr lang="en-IN" sz="1600" dirty="0">
              <a:effectLst/>
              <a:latin typeface="Times New Roman" panose="02020603050405020304" pitchFamily="18" charset="0"/>
              <a:ea typeface="Times New Roman" panose="02020603050405020304" pitchFamily="18" charset="0"/>
            </a:endParaRPr>
          </a:p>
          <a:p>
            <a:pPr marL="342900" lvl="0" indent="-342900">
              <a:buFont typeface="Wingdings" panose="05000000000000000000" pitchFamily="2" charset="2"/>
              <a:buChar char=""/>
            </a:pPr>
            <a:r>
              <a:rPr lang="en-IN" sz="1600" dirty="0">
                <a:effectLst/>
                <a:latin typeface="Times New Roman" panose="02020603050405020304" pitchFamily="18" charset="0"/>
                <a:ea typeface="Times New Roman" panose="02020603050405020304" pitchFamily="18" charset="0"/>
              </a:rPr>
              <a:t>Root Mean Squared Error (RMSE) for Time [s]: </a:t>
            </a:r>
            <a:r>
              <a:rPr lang="en-IN" sz="1600" b="1" dirty="0">
                <a:effectLst/>
                <a:latin typeface="Times New Roman" panose="02020603050405020304" pitchFamily="18" charset="0"/>
                <a:ea typeface="Times New Roman" panose="02020603050405020304" pitchFamily="18" charset="0"/>
              </a:rPr>
              <a:t>13.6596</a:t>
            </a:r>
            <a:endParaRPr lang="en-IN" sz="1600" dirty="0">
              <a:effectLst/>
              <a:latin typeface="Times New Roman" panose="02020603050405020304" pitchFamily="18" charset="0"/>
              <a:ea typeface="Times New Roman" panose="02020603050405020304" pitchFamily="18" charset="0"/>
            </a:endParaRPr>
          </a:p>
          <a:p>
            <a:pPr marL="342900" lvl="0" indent="-342900">
              <a:buFont typeface="Wingdings" panose="05000000000000000000" pitchFamily="2" charset="2"/>
              <a:buChar char=""/>
            </a:pPr>
            <a:r>
              <a:rPr lang="en-IN" sz="1600" dirty="0">
                <a:effectLst/>
                <a:latin typeface="Times New Roman" panose="02020603050405020304" pitchFamily="18" charset="0"/>
                <a:ea typeface="Times New Roman" panose="02020603050405020304" pitchFamily="18" charset="0"/>
              </a:rPr>
              <a:t>Mean Absolute Percentage Error (MAPE): </a:t>
            </a:r>
            <a:r>
              <a:rPr lang="en-IN" sz="1600" b="1" dirty="0">
                <a:effectLst/>
                <a:latin typeface="Times New Roman" panose="02020603050405020304" pitchFamily="18" charset="0"/>
                <a:ea typeface="Times New Roman" panose="02020603050405020304" pitchFamily="18" charset="0"/>
              </a:rPr>
              <a:t>20.57%</a:t>
            </a:r>
            <a:endParaRPr lang="en-IN" sz="1600" dirty="0">
              <a:effectLst/>
              <a:latin typeface="Times New Roman" panose="02020603050405020304" pitchFamily="18" charset="0"/>
              <a:ea typeface="Times New Roman" panose="02020603050405020304" pitchFamily="18" charset="0"/>
            </a:endParaRPr>
          </a:p>
          <a:p>
            <a:pPr marL="342900" lvl="0" indent="-342900">
              <a:buFont typeface="Wingdings" panose="05000000000000000000" pitchFamily="2" charset="2"/>
              <a:buChar char=""/>
            </a:pPr>
            <a:r>
              <a:rPr lang="en-IN" sz="1600" dirty="0">
                <a:effectLst/>
                <a:latin typeface="Times New Roman" panose="02020603050405020304" pitchFamily="18" charset="0"/>
                <a:ea typeface="Times New Roman" panose="02020603050405020304" pitchFamily="18" charset="0"/>
              </a:rPr>
              <a:t>Accuracy: </a:t>
            </a:r>
            <a:r>
              <a:rPr lang="en-IN" sz="1600" b="1" dirty="0">
                <a:effectLst/>
                <a:latin typeface="Times New Roman" panose="02020603050405020304" pitchFamily="18" charset="0"/>
                <a:ea typeface="Times New Roman" panose="02020603050405020304" pitchFamily="18" charset="0"/>
              </a:rPr>
              <a:t>79.43%</a:t>
            </a:r>
            <a:endParaRPr lang="en-IN" sz="1600" dirty="0">
              <a:effectLst/>
              <a:latin typeface="Times New Roman" panose="02020603050405020304" pitchFamily="18" charset="0"/>
              <a:ea typeface="Times New Roman" panose="02020603050405020304" pitchFamily="18" charset="0"/>
            </a:endParaRPr>
          </a:p>
          <a:p>
            <a:pPr marL="342900" lvl="0" indent="-342900">
              <a:buFont typeface="Wingdings" panose="05000000000000000000" pitchFamily="2" charset="2"/>
              <a:buChar char=""/>
            </a:pPr>
            <a:r>
              <a:rPr lang="en-IN" sz="1600" dirty="0">
                <a:effectLst/>
                <a:latin typeface="Times New Roman" panose="02020603050405020304" pitchFamily="18" charset="0"/>
                <a:ea typeface="Times New Roman" panose="02020603050405020304" pitchFamily="18" charset="0"/>
              </a:rPr>
              <a:t>Simulation Time (Model Training + Prediction): </a:t>
            </a:r>
            <a:r>
              <a:rPr lang="en-IN" sz="1600" b="1" dirty="0">
                <a:effectLst/>
                <a:latin typeface="Times New Roman" panose="02020603050405020304" pitchFamily="18" charset="0"/>
                <a:ea typeface="Times New Roman" panose="02020603050405020304" pitchFamily="18" charset="0"/>
              </a:rPr>
              <a:t>0.0645 seconds</a:t>
            </a:r>
            <a:endParaRPr lang="en-IN" sz="1600" dirty="0">
              <a:effectLst/>
              <a:latin typeface="Times New Roman" panose="02020603050405020304" pitchFamily="18" charset="0"/>
              <a:ea typeface="Times New Roman" panose="02020603050405020304" pitchFamily="18" charset="0"/>
            </a:endParaRPr>
          </a:p>
          <a:p>
            <a:pPr marL="342900" lvl="0" indent="-342900">
              <a:buFont typeface="Wingdings" panose="05000000000000000000" pitchFamily="2" charset="2"/>
              <a:buChar char=""/>
            </a:pPr>
            <a:r>
              <a:rPr lang="en-IN" sz="1600" dirty="0">
                <a:effectLst/>
                <a:latin typeface="Times New Roman" panose="02020603050405020304" pitchFamily="18" charset="0"/>
                <a:ea typeface="Times New Roman" panose="02020603050405020304" pitchFamily="18" charset="0"/>
              </a:rPr>
              <a:t>Total Execution Time (Data + Plot + Metrics): </a:t>
            </a:r>
            <a:r>
              <a:rPr lang="en-IN" sz="1600" b="1" dirty="0">
                <a:effectLst/>
                <a:latin typeface="Times New Roman" panose="02020603050405020304" pitchFamily="18" charset="0"/>
                <a:ea typeface="Times New Roman" panose="02020603050405020304" pitchFamily="18" charset="0"/>
              </a:rPr>
              <a:t>2.6341 seconds</a:t>
            </a:r>
            <a:endParaRPr lang="en-IN" sz="16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183CFF3F-6F45-69B4-F211-3365437C67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87615" y="251829"/>
            <a:ext cx="4677697" cy="3098513"/>
          </a:xfrm>
          <a:prstGeom prst="rect">
            <a:avLst/>
          </a:prstGeom>
          <a:noFill/>
          <a:ln>
            <a:noFill/>
          </a:ln>
        </p:spPr>
      </p:pic>
      <p:sp>
        <p:nvSpPr>
          <p:cNvPr id="9" name="TextBox 8">
            <a:extLst>
              <a:ext uri="{FF2B5EF4-FFF2-40B4-BE49-F238E27FC236}">
                <a16:creationId xmlns:a16="http://schemas.microsoft.com/office/drawing/2014/main" id="{42B08228-A7D2-EC9E-4BAE-7A21EC88A944}"/>
              </a:ext>
            </a:extLst>
          </p:cNvPr>
          <p:cNvSpPr txBox="1"/>
          <p:nvPr/>
        </p:nvSpPr>
        <p:spPr>
          <a:xfrm>
            <a:off x="6233654" y="3429000"/>
            <a:ext cx="5535562" cy="2308324"/>
          </a:xfrm>
          <a:prstGeom prst="rect">
            <a:avLst/>
          </a:prstGeom>
          <a:noFill/>
        </p:spPr>
        <p:txBody>
          <a:bodyPr wrap="square">
            <a:spAutoFit/>
          </a:bodyPr>
          <a:lstStyle/>
          <a:p>
            <a:pPr marL="285750" indent="-285750">
              <a:buFont typeface="Wingdings" panose="05000000000000000000" pitchFamily="2" charset="2"/>
              <a:buChar char="§"/>
            </a:pPr>
            <a:r>
              <a:rPr lang="en-IN" sz="1600" dirty="0"/>
              <a:t>Mean Squared Error (MSE) for Battery Voltage [V]: </a:t>
            </a:r>
            <a:r>
              <a:rPr lang="en-IN" sz="1600" b="1" dirty="0"/>
              <a:t>0.1507</a:t>
            </a:r>
          </a:p>
          <a:p>
            <a:pPr marL="285750" indent="-285750">
              <a:buFont typeface="Wingdings" panose="05000000000000000000" pitchFamily="2" charset="2"/>
              <a:buChar char="§"/>
            </a:pPr>
            <a:r>
              <a:rPr lang="en-IN" sz="1600" dirty="0"/>
              <a:t>Mean Absolute Error (MAE) for Battery Voltage [V]: </a:t>
            </a:r>
            <a:r>
              <a:rPr lang="en-IN" sz="1600" b="1" dirty="0"/>
              <a:t>0.2957</a:t>
            </a:r>
          </a:p>
          <a:p>
            <a:pPr marL="285750" indent="-285750">
              <a:buFont typeface="Wingdings" panose="05000000000000000000" pitchFamily="2" charset="2"/>
              <a:buChar char="§"/>
            </a:pPr>
            <a:r>
              <a:rPr lang="en-IN" sz="1600" dirty="0"/>
              <a:t>Root Mean Squared Error (RMSE) for Battery Voltage [V]: </a:t>
            </a:r>
            <a:r>
              <a:rPr lang="en-IN" sz="1600" b="1" dirty="0"/>
              <a:t>0.3882</a:t>
            </a:r>
          </a:p>
          <a:p>
            <a:pPr marL="285750" indent="-285750">
              <a:buFont typeface="Wingdings" panose="05000000000000000000" pitchFamily="2" charset="2"/>
              <a:buChar char="§"/>
            </a:pPr>
            <a:r>
              <a:rPr lang="en-IN" sz="1600" dirty="0"/>
              <a:t>Mean Absolute Percentage Error (MAPE): </a:t>
            </a:r>
            <a:r>
              <a:rPr lang="en-IN" sz="1600" b="1" dirty="0"/>
              <a:t>0.08%</a:t>
            </a:r>
          </a:p>
          <a:p>
            <a:pPr marL="285750" indent="-285750">
              <a:buFont typeface="Wingdings" panose="05000000000000000000" pitchFamily="2" charset="2"/>
              <a:buChar char="§"/>
            </a:pPr>
            <a:r>
              <a:rPr lang="en-IN" sz="1600" dirty="0"/>
              <a:t>Accuracy: </a:t>
            </a:r>
            <a:r>
              <a:rPr lang="en-IN" sz="1600" b="1" dirty="0"/>
              <a:t>99.92%</a:t>
            </a:r>
          </a:p>
          <a:p>
            <a:pPr marL="285750" indent="-285750">
              <a:buFont typeface="Wingdings" panose="05000000000000000000" pitchFamily="2" charset="2"/>
              <a:buChar char="§"/>
            </a:pPr>
            <a:r>
              <a:rPr lang="en-IN" sz="1600" dirty="0"/>
              <a:t>Simulation Time (Model Training + Prediction): </a:t>
            </a:r>
            <a:r>
              <a:rPr lang="en-IN" sz="1600" b="1" dirty="0"/>
              <a:t>0.0145 seconds</a:t>
            </a:r>
          </a:p>
          <a:p>
            <a:pPr marL="285750" indent="-285750">
              <a:buFont typeface="Wingdings" panose="05000000000000000000" pitchFamily="2" charset="2"/>
              <a:buChar char="§"/>
            </a:pPr>
            <a:r>
              <a:rPr lang="en-IN" sz="1600" dirty="0"/>
              <a:t>Total Execution Time (Data + Plot + Metrics): </a:t>
            </a:r>
            <a:r>
              <a:rPr lang="en-IN" sz="1600" b="1" dirty="0"/>
              <a:t>0.3630 seconds</a:t>
            </a:r>
          </a:p>
        </p:txBody>
      </p:sp>
    </p:spTree>
    <p:extLst>
      <p:ext uri="{BB962C8B-B14F-4D97-AF65-F5344CB8AC3E}">
        <p14:creationId xmlns:p14="http://schemas.microsoft.com/office/powerpoint/2010/main" val="770393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0BFA34-4D53-7868-7D92-CD4503ECE90A}"/>
              </a:ext>
            </a:extLst>
          </p:cNvPr>
          <p:cNvSpPr>
            <a:spLocks noGrp="1"/>
          </p:cNvSpPr>
          <p:nvPr>
            <p:ph type="dt" sz="half" idx="10"/>
          </p:nvPr>
        </p:nvSpPr>
        <p:spPr/>
        <p:txBody>
          <a:bodyPr/>
          <a:lstStyle/>
          <a:p>
            <a:fld id="{9F1065F4-9D49-466F-B5D3-3E5BE6953EEA}" type="datetime1">
              <a:rPr lang="en-IN" smtClean="0"/>
              <a:t>16-06-2026</a:t>
            </a:fld>
            <a:endParaRPr lang="en-IN"/>
          </a:p>
        </p:txBody>
      </p:sp>
      <p:sp>
        <p:nvSpPr>
          <p:cNvPr id="3" name="Slide Number Placeholder 2">
            <a:extLst>
              <a:ext uri="{FF2B5EF4-FFF2-40B4-BE49-F238E27FC236}">
                <a16:creationId xmlns:a16="http://schemas.microsoft.com/office/drawing/2014/main" id="{024545EE-A601-7B9E-3497-29E64E15A6E9}"/>
              </a:ext>
            </a:extLst>
          </p:cNvPr>
          <p:cNvSpPr>
            <a:spLocks noGrp="1"/>
          </p:cNvSpPr>
          <p:nvPr>
            <p:ph type="sldNum" sz="quarter" idx="12"/>
          </p:nvPr>
        </p:nvSpPr>
        <p:spPr/>
        <p:txBody>
          <a:bodyPr/>
          <a:lstStyle/>
          <a:p>
            <a:fld id="{FF913B45-0786-488C-9F83-DB626DC1C02A}" type="slidenum">
              <a:rPr lang="en-IN" smtClean="0"/>
              <a:t>13</a:t>
            </a:fld>
            <a:endParaRPr lang="en-IN"/>
          </a:p>
        </p:txBody>
      </p:sp>
      <p:pic>
        <p:nvPicPr>
          <p:cNvPr id="4" name="Picture 3">
            <a:extLst>
              <a:ext uri="{FF2B5EF4-FFF2-40B4-BE49-F238E27FC236}">
                <a16:creationId xmlns:a16="http://schemas.microsoft.com/office/drawing/2014/main" id="{B3594AD3-6FDB-6C57-0489-FF4C9C6C29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82324" y="501650"/>
            <a:ext cx="6489700" cy="3176270"/>
          </a:xfrm>
          <a:prstGeom prst="rect">
            <a:avLst/>
          </a:prstGeom>
          <a:noFill/>
          <a:ln>
            <a:noFill/>
          </a:ln>
        </p:spPr>
      </p:pic>
      <p:sp>
        <p:nvSpPr>
          <p:cNvPr id="6" name="TextBox 5">
            <a:extLst>
              <a:ext uri="{FF2B5EF4-FFF2-40B4-BE49-F238E27FC236}">
                <a16:creationId xmlns:a16="http://schemas.microsoft.com/office/drawing/2014/main" id="{D9119579-AC6A-9E07-5938-0CBDBC32A548}"/>
              </a:ext>
            </a:extLst>
          </p:cNvPr>
          <p:cNvSpPr txBox="1"/>
          <p:nvPr/>
        </p:nvSpPr>
        <p:spPr>
          <a:xfrm>
            <a:off x="3441290" y="3668743"/>
            <a:ext cx="7807018" cy="2667397"/>
          </a:xfrm>
          <a:prstGeom prst="rect">
            <a:avLst/>
          </a:prstGeom>
          <a:noFill/>
        </p:spPr>
        <p:txBody>
          <a:bodyPr wrap="square">
            <a:spAutoFit/>
          </a:bodyPr>
          <a:lstStyle/>
          <a:p>
            <a:pPr marL="1270" marR="188595" algn="just">
              <a:spcBef>
                <a:spcPts val="395"/>
              </a:spcBef>
              <a:buNone/>
            </a:pPr>
            <a:r>
              <a:rPr lang="en-IN" sz="1600" b="0" dirty="0">
                <a:effectLst/>
                <a:latin typeface="Times New Roman" panose="02020603050405020304" pitchFamily="18" charset="0"/>
                <a:ea typeface="Times New Roman" panose="02020603050405020304" pitchFamily="18" charset="0"/>
              </a:rPr>
              <a:t> </a:t>
            </a:r>
            <a:endParaRPr lang="en-IN" sz="1600" b="1" dirty="0">
              <a:effectLst/>
              <a:latin typeface="Times New Roman" panose="02020603050405020304" pitchFamily="18" charset="0"/>
              <a:ea typeface="Times New Roman" panose="02020603050405020304" pitchFamily="18" charset="0"/>
            </a:endParaRPr>
          </a:p>
          <a:p>
            <a:pPr marL="342900" marR="188595" lvl="0" indent="-342900" algn="just">
              <a:spcBef>
                <a:spcPts val="395"/>
              </a:spcBef>
              <a:buFont typeface="Wingdings" panose="05000000000000000000" pitchFamily="2" charset="2"/>
              <a:buChar char=""/>
            </a:pPr>
            <a:r>
              <a:rPr lang="en-IN" sz="1600" b="0" dirty="0">
                <a:effectLst/>
                <a:latin typeface="Times New Roman" panose="02020603050405020304" pitchFamily="18" charset="0"/>
                <a:ea typeface="Times New Roman" panose="02020603050405020304" pitchFamily="18" charset="0"/>
              </a:rPr>
              <a:t>Mean Squared Error (MSE) for Battery Current [A]: </a:t>
            </a:r>
            <a:r>
              <a:rPr lang="en-IN" sz="1600" b="1" dirty="0">
                <a:effectLst/>
                <a:latin typeface="Times New Roman" panose="02020603050405020304" pitchFamily="18" charset="0"/>
                <a:ea typeface="Times New Roman" panose="02020603050405020304" pitchFamily="18" charset="0"/>
              </a:rPr>
              <a:t>24.8006</a:t>
            </a:r>
          </a:p>
          <a:p>
            <a:pPr marL="342900" marR="188595" lvl="0" indent="-342900" algn="just">
              <a:spcBef>
                <a:spcPts val="395"/>
              </a:spcBef>
              <a:buFont typeface="Wingdings" panose="05000000000000000000" pitchFamily="2" charset="2"/>
              <a:buChar char=""/>
            </a:pPr>
            <a:r>
              <a:rPr lang="en-IN" sz="1600" b="0" dirty="0">
                <a:effectLst/>
                <a:latin typeface="Times New Roman" panose="02020603050405020304" pitchFamily="18" charset="0"/>
                <a:ea typeface="Times New Roman" panose="02020603050405020304" pitchFamily="18" charset="0"/>
              </a:rPr>
              <a:t>Mean Absolute Error (MAE) for Battery Current [A]: </a:t>
            </a:r>
            <a:r>
              <a:rPr lang="en-IN" sz="1600" b="1" dirty="0">
                <a:effectLst/>
                <a:latin typeface="Times New Roman" panose="02020603050405020304" pitchFamily="18" charset="0"/>
                <a:ea typeface="Times New Roman" panose="02020603050405020304" pitchFamily="18" charset="0"/>
              </a:rPr>
              <a:t>3.7663</a:t>
            </a:r>
          </a:p>
          <a:p>
            <a:pPr marL="342900" marR="188595" lvl="0" indent="-342900" algn="just">
              <a:spcBef>
                <a:spcPts val="395"/>
              </a:spcBef>
              <a:buFont typeface="Wingdings" panose="05000000000000000000" pitchFamily="2" charset="2"/>
              <a:buChar char=""/>
            </a:pPr>
            <a:r>
              <a:rPr lang="en-IN" sz="1600" b="0" dirty="0">
                <a:effectLst/>
                <a:latin typeface="Times New Roman" panose="02020603050405020304" pitchFamily="18" charset="0"/>
                <a:ea typeface="Times New Roman" panose="02020603050405020304" pitchFamily="18" charset="0"/>
              </a:rPr>
              <a:t>Root Mean Squared Error (RMSE) for Battery Current [A]: </a:t>
            </a:r>
            <a:r>
              <a:rPr lang="en-IN" sz="1600" b="1" dirty="0">
                <a:effectLst/>
                <a:latin typeface="Times New Roman" panose="02020603050405020304" pitchFamily="18" charset="0"/>
                <a:ea typeface="Times New Roman" panose="02020603050405020304" pitchFamily="18" charset="0"/>
              </a:rPr>
              <a:t>4.9800</a:t>
            </a:r>
          </a:p>
          <a:p>
            <a:pPr marL="342900" marR="188595" lvl="0" indent="-342900" algn="just">
              <a:spcBef>
                <a:spcPts val="395"/>
              </a:spcBef>
              <a:buFont typeface="Wingdings" panose="05000000000000000000" pitchFamily="2" charset="2"/>
              <a:buChar char=""/>
            </a:pPr>
            <a:r>
              <a:rPr lang="en-IN" sz="1600" b="0" dirty="0">
                <a:effectLst/>
                <a:latin typeface="Times New Roman" panose="02020603050405020304" pitchFamily="18" charset="0"/>
                <a:ea typeface="Times New Roman" panose="02020603050405020304" pitchFamily="18" charset="0"/>
              </a:rPr>
              <a:t>Mean Absolute Percentage Error (MAPE): </a:t>
            </a:r>
            <a:r>
              <a:rPr lang="en-IN" sz="1600" b="1" dirty="0">
                <a:effectLst/>
                <a:latin typeface="Times New Roman" panose="02020603050405020304" pitchFamily="18" charset="0"/>
                <a:ea typeface="Times New Roman" panose="02020603050405020304" pitchFamily="18" charset="0"/>
              </a:rPr>
              <a:t>54.35%</a:t>
            </a:r>
          </a:p>
          <a:p>
            <a:pPr marL="342900" marR="188595" lvl="0" indent="-342900" algn="just">
              <a:spcBef>
                <a:spcPts val="395"/>
              </a:spcBef>
              <a:buFont typeface="Wingdings" panose="05000000000000000000" pitchFamily="2" charset="2"/>
              <a:buChar char=""/>
            </a:pPr>
            <a:r>
              <a:rPr lang="en-IN" sz="1600" b="0" dirty="0">
                <a:effectLst/>
                <a:latin typeface="Times New Roman" panose="02020603050405020304" pitchFamily="18" charset="0"/>
                <a:ea typeface="Times New Roman" panose="02020603050405020304" pitchFamily="18" charset="0"/>
              </a:rPr>
              <a:t>Accuracy: </a:t>
            </a:r>
            <a:r>
              <a:rPr lang="en-IN" sz="1600" b="1" dirty="0">
                <a:effectLst/>
                <a:latin typeface="Times New Roman" panose="02020603050405020304" pitchFamily="18" charset="0"/>
                <a:ea typeface="Times New Roman" panose="02020603050405020304" pitchFamily="18" charset="0"/>
              </a:rPr>
              <a:t>45.65%</a:t>
            </a:r>
          </a:p>
          <a:p>
            <a:pPr marL="342900" marR="188595" lvl="0" indent="-342900" algn="just">
              <a:spcBef>
                <a:spcPts val="395"/>
              </a:spcBef>
              <a:buFont typeface="Wingdings" panose="05000000000000000000" pitchFamily="2" charset="2"/>
              <a:buChar char=""/>
            </a:pPr>
            <a:r>
              <a:rPr lang="en-IN" sz="1600" b="0" dirty="0">
                <a:effectLst/>
                <a:latin typeface="Times New Roman" panose="02020603050405020304" pitchFamily="18" charset="0"/>
                <a:ea typeface="Times New Roman" panose="02020603050405020304" pitchFamily="18" charset="0"/>
              </a:rPr>
              <a:t>Simulation Time (Model Training + Prediction): </a:t>
            </a:r>
            <a:r>
              <a:rPr lang="en-IN" sz="1600" b="1" dirty="0">
                <a:effectLst/>
                <a:latin typeface="Times New Roman" panose="02020603050405020304" pitchFamily="18" charset="0"/>
                <a:ea typeface="Times New Roman" panose="02020603050405020304" pitchFamily="18" charset="0"/>
              </a:rPr>
              <a:t>0.0117 seconds</a:t>
            </a:r>
          </a:p>
          <a:p>
            <a:pPr marL="342900" marR="188595" lvl="0" indent="-342900" algn="just">
              <a:spcBef>
                <a:spcPts val="395"/>
              </a:spcBef>
              <a:buFont typeface="Wingdings" panose="05000000000000000000" pitchFamily="2" charset="2"/>
              <a:buChar char=""/>
            </a:pPr>
            <a:r>
              <a:rPr lang="en-IN" sz="1600" b="0" dirty="0">
                <a:effectLst/>
                <a:latin typeface="Times New Roman" panose="02020603050405020304" pitchFamily="18" charset="0"/>
                <a:ea typeface="Times New Roman" panose="02020603050405020304" pitchFamily="18" charset="0"/>
              </a:rPr>
              <a:t>Total Execution Time (Data + Plot + Metrics): </a:t>
            </a:r>
            <a:r>
              <a:rPr lang="en-IN" sz="1600" b="1" dirty="0">
                <a:effectLst/>
                <a:latin typeface="Times New Roman" panose="02020603050405020304" pitchFamily="18" charset="0"/>
                <a:ea typeface="Times New Roman" panose="02020603050405020304" pitchFamily="18" charset="0"/>
              </a:rPr>
              <a:t>0.3066 seconds</a:t>
            </a:r>
          </a:p>
          <a:p>
            <a:pPr>
              <a:buNone/>
            </a:pPr>
            <a:r>
              <a:rPr lang="en-US" sz="1600" dirty="0">
                <a:effectLst/>
                <a:latin typeface="Times New Roman" panose="02020603050405020304" pitchFamily="18" charset="0"/>
                <a:ea typeface="Times New Roman" panose="02020603050405020304" pitchFamily="18" charset="0"/>
              </a:rPr>
              <a:t> </a:t>
            </a:r>
            <a:endParaRPr lang="en-IN" sz="1600" dirty="0"/>
          </a:p>
        </p:txBody>
      </p:sp>
    </p:spTree>
    <p:extLst>
      <p:ext uri="{BB962C8B-B14F-4D97-AF65-F5344CB8AC3E}">
        <p14:creationId xmlns:p14="http://schemas.microsoft.com/office/powerpoint/2010/main" val="2863308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0575"/>
            <a:ext cx="10515600" cy="1325563"/>
          </a:xfrm>
        </p:spPr>
        <p:txBody>
          <a:bodyPr>
            <a:normAutofit/>
          </a:bodyPr>
          <a:lstStyle/>
          <a:p>
            <a:pPr algn="ctr"/>
            <a:r>
              <a:rPr lang="en-IN" altLang="en-US" sz="3200" b="1" dirty="0">
                <a:solidFill>
                  <a:srgbClr val="7030A0"/>
                </a:solidFill>
                <a:latin typeface="Times New Roman" panose="02020603050405020304" pitchFamily="18" charset="0"/>
                <a:cs typeface="Times New Roman" panose="02020603050405020304" pitchFamily="18" charset="0"/>
              </a:rPr>
              <a:t>CONCLUSION &amp; FUTURE WORK </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04988"/>
            <a:ext cx="10515600" cy="4351338"/>
          </a:xfrm>
        </p:spPr>
        <p:txBody>
          <a:bodyPr>
            <a:noAutofit/>
          </a:bodyPr>
          <a:lstStyle/>
          <a:p>
            <a:pPr>
              <a:buFont typeface="Arial" panose="020B0604020202020204" pitchFamily="34" charset="0"/>
              <a:buChar char="•"/>
            </a:pPr>
            <a:r>
              <a:rPr lang="en-US" sz="2400" b="1" dirty="0"/>
              <a:t>Sensor Integration:</a:t>
            </a:r>
            <a:r>
              <a:rPr lang="en-US" sz="2400" dirty="0"/>
              <a:t> </a:t>
            </a:r>
          </a:p>
          <a:p>
            <a:pPr marL="0" indent="0">
              <a:buNone/>
            </a:pPr>
            <a:r>
              <a:rPr lang="en-US" sz="2400" dirty="0"/>
              <a:t>	Addition of more advanced sensors (e.g., current, humidity, internal resistance) for higher accuracy.</a:t>
            </a:r>
          </a:p>
          <a:p>
            <a:pPr>
              <a:buFont typeface="Arial" panose="020B0604020202020204" pitchFamily="34" charset="0"/>
              <a:buChar char="•"/>
            </a:pPr>
            <a:r>
              <a:rPr lang="en-US" sz="2400" b="1" dirty="0"/>
              <a:t>Edge AI Deployment:</a:t>
            </a:r>
          </a:p>
          <a:p>
            <a:pPr marL="0" indent="0">
              <a:buNone/>
            </a:pPr>
            <a:r>
              <a:rPr lang="en-US" sz="2400" b="1" dirty="0"/>
              <a:t>	</a:t>
            </a:r>
            <a:r>
              <a:rPr lang="en-US" sz="2400" dirty="0"/>
              <a:t> Shift machine learning models from cloud to edge devices (like ESP32/ESP8266) for real-time on-device predictions.</a:t>
            </a:r>
          </a:p>
          <a:p>
            <a:pPr>
              <a:buFont typeface="Arial" panose="020B0604020202020204" pitchFamily="34" charset="0"/>
              <a:buChar char="•"/>
            </a:pPr>
            <a:r>
              <a:rPr lang="en-US" sz="2400" b="1" dirty="0"/>
              <a:t>Mobile App Interface:</a:t>
            </a:r>
            <a:r>
              <a:rPr lang="en-US" sz="2400" dirty="0"/>
              <a:t> </a:t>
            </a:r>
          </a:p>
          <a:p>
            <a:pPr marL="0" indent="0">
              <a:buNone/>
            </a:pPr>
            <a:r>
              <a:rPr lang="en-US" sz="2400" dirty="0"/>
              <a:t>	Develop a mobile dashboard to display battery health and predictions to users in real time.</a:t>
            </a:r>
          </a:p>
          <a:p>
            <a:pPr>
              <a:buFont typeface="Arial" panose="020B0604020202020204" pitchFamily="34" charset="0"/>
              <a:buChar char="•"/>
            </a:pPr>
            <a:r>
              <a:rPr lang="en-US" sz="2400" b="1" dirty="0"/>
              <a:t>Battery Optimization Algorithms:</a:t>
            </a:r>
            <a:r>
              <a:rPr lang="en-US" sz="2400" dirty="0"/>
              <a:t> </a:t>
            </a:r>
          </a:p>
          <a:p>
            <a:pPr marL="0" indent="0">
              <a:buNone/>
            </a:pPr>
            <a:r>
              <a:rPr lang="en-US" sz="2400" dirty="0"/>
              <a:t>	Implement intelligent algorithms for charging/discharging control to maximize battery life and efficiency.</a:t>
            </a:r>
          </a:p>
          <a:p>
            <a:endParaRPr lang="en-IN" sz="2400" dirty="0"/>
          </a:p>
          <a:p>
            <a:endParaRPr lang="en-IN" sz="2400" dirty="0"/>
          </a:p>
        </p:txBody>
      </p:sp>
      <p:sp>
        <p:nvSpPr>
          <p:cNvPr id="4" name="Date Placeholder 3"/>
          <p:cNvSpPr>
            <a:spLocks noGrp="1"/>
          </p:cNvSpPr>
          <p:nvPr>
            <p:ph type="dt" sz="half" idx="10"/>
          </p:nvPr>
        </p:nvSpPr>
        <p:spPr/>
        <p:txBody>
          <a:bodyPr/>
          <a:lstStyle/>
          <a:p>
            <a:fld id="{8E393438-67B8-4262-B2F1-9984AFF131E1}" type="datetime1">
              <a:rPr lang="en-IN" smtClean="0"/>
              <a:t>16-06-2026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14</a:t>
            </a:fld>
            <a:endParaRPr lang="en-IN"/>
          </a:p>
        </p:txBody>
      </p:sp>
    </p:spTree>
    <p:extLst>
      <p:ext uri="{BB962C8B-B14F-4D97-AF65-F5344CB8AC3E}">
        <p14:creationId xmlns:p14="http://schemas.microsoft.com/office/powerpoint/2010/main" val="3862659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321"/>
            <a:ext cx="10515600" cy="1325563"/>
          </a:xfrm>
        </p:spPr>
        <p:txBody>
          <a:bodyPr>
            <a:normAutofit/>
          </a:bodyPr>
          <a:lstStyle/>
          <a:p>
            <a:pPr algn="ctr"/>
            <a:r>
              <a:rPr lang="en-IN" altLang="en-US" sz="3200" b="1" dirty="0">
                <a:solidFill>
                  <a:srgbClr val="7030A0"/>
                </a:solidFill>
                <a:latin typeface="Times New Roman" panose="02020603050405020304" pitchFamily="18" charset="0"/>
                <a:cs typeface="Times New Roman" panose="02020603050405020304" pitchFamily="18" charset="0"/>
              </a:rPr>
              <a:t>REFERENCES</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20213" y="875071"/>
            <a:ext cx="10515600" cy="5166955"/>
          </a:xfrm>
        </p:spPr>
        <p:txBody>
          <a:bodyPr>
            <a:normAutofit fontScale="77500" lnSpcReduction="20000"/>
          </a:bodyPr>
          <a:lstStyle/>
          <a:p>
            <a:pPr marR="188595" algn="just">
              <a:lnSpc>
                <a:spcPct val="200000"/>
              </a:lnSpc>
              <a:spcBef>
                <a:spcPts val="1010"/>
              </a:spcBef>
              <a:tabLst>
                <a:tab pos="457200" algn="l"/>
                <a:tab pos="915670" algn="l"/>
              </a:tabLst>
            </a:pPr>
            <a:r>
              <a:rPr lang="en-IN" sz="2300" b="1" dirty="0">
                <a:effectLst/>
                <a:latin typeface="Times New Roman" panose="02020603050405020304" pitchFamily="18" charset="0"/>
                <a:ea typeface="Times New Roman" panose="02020603050405020304" pitchFamily="18" charset="0"/>
              </a:rPr>
              <a:t>M. Chen, G. A. Rincon-Mora</a:t>
            </a:r>
            <a:r>
              <a:rPr lang="en-IN" sz="2300" dirty="0">
                <a:effectLst/>
                <a:latin typeface="Times New Roman" panose="02020603050405020304" pitchFamily="18" charset="0"/>
                <a:ea typeface="Times New Roman" panose="02020603050405020304" pitchFamily="18" charset="0"/>
              </a:rPr>
              <a:t>, </a:t>
            </a:r>
            <a:r>
              <a:rPr lang="en-IN" sz="2300" i="1" dirty="0">
                <a:effectLst/>
                <a:latin typeface="Times New Roman" panose="02020603050405020304" pitchFamily="18" charset="0"/>
                <a:ea typeface="Times New Roman" panose="02020603050405020304" pitchFamily="18" charset="0"/>
              </a:rPr>
              <a:t>Accurate electrical battery model capable of predicting runtime and I–V performance</a:t>
            </a:r>
            <a:r>
              <a:rPr lang="en-IN" sz="2300" dirty="0">
                <a:effectLst/>
                <a:latin typeface="Times New Roman" panose="02020603050405020304" pitchFamily="18" charset="0"/>
                <a:ea typeface="Times New Roman" panose="02020603050405020304" pitchFamily="18" charset="0"/>
              </a:rPr>
              <a:t>, IEEE Transactions on Energy Conversion, 2006.</a:t>
            </a:r>
          </a:p>
          <a:p>
            <a:pPr marR="188595" algn="just">
              <a:lnSpc>
                <a:spcPct val="200000"/>
              </a:lnSpc>
              <a:spcBef>
                <a:spcPts val="1010"/>
              </a:spcBef>
              <a:tabLst>
                <a:tab pos="457200" algn="l"/>
                <a:tab pos="915670" algn="l"/>
              </a:tabLst>
            </a:pPr>
            <a:r>
              <a:rPr lang="en-IN" sz="2300" b="1" dirty="0">
                <a:effectLst/>
                <a:latin typeface="Times New Roman" panose="02020603050405020304" pitchFamily="18" charset="0"/>
                <a:ea typeface="Times New Roman" panose="02020603050405020304" pitchFamily="18" charset="0"/>
              </a:rPr>
              <a:t>Y. Zhang, C.-Y. Wang</a:t>
            </a:r>
            <a:r>
              <a:rPr lang="en-IN" sz="2300" dirty="0">
                <a:effectLst/>
                <a:latin typeface="Times New Roman" panose="02020603050405020304" pitchFamily="18" charset="0"/>
                <a:ea typeface="Times New Roman" panose="02020603050405020304" pitchFamily="18" charset="0"/>
              </a:rPr>
              <a:t>, </a:t>
            </a:r>
            <a:r>
              <a:rPr lang="en-IN" sz="2300" i="1" dirty="0">
                <a:effectLst/>
                <a:latin typeface="Times New Roman" panose="02020603050405020304" pitchFamily="18" charset="0"/>
                <a:ea typeface="Times New Roman" panose="02020603050405020304" pitchFamily="18" charset="0"/>
              </a:rPr>
              <a:t>Battery power management based on real-time electric vehicle data</a:t>
            </a:r>
            <a:r>
              <a:rPr lang="en-IN" sz="2300" dirty="0">
                <a:effectLst/>
                <a:latin typeface="Times New Roman" panose="02020603050405020304" pitchFamily="18" charset="0"/>
                <a:ea typeface="Times New Roman" panose="02020603050405020304" pitchFamily="18" charset="0"/>
              </a:rPr>
              <a:t>, Journal of Power Sources, 2020.</a:t>
            </a:r>
          </a:p>
          <a:p>
            <a:pPr marR="188595" algn="just">
              <a:lnSpc>
                <a:spcPct val="200000"/>
              </a:lnSpc>
              <a:spcBef>
                <a:spcPts val="1010"/>
              </a:spcBef>
              <a:tabLst>
                <a:tab pos="457200" algn="l"/>
                <a:tab pos="915670" algn="l"/>
              </a:tabLst>
            </a:pPr>
            <a:r>
              <a:rPr lang="en-IN" sz="2300" b="1" dirty="0">
                <a:effectLst/>
                <a:latin typeface="Times New Roman" panose="02020603050405020304" pitchFamily="18" charset="0"/>
                <a:ea typeface="Times New Roman" panose="02020603050405020304" pitchFamily="18" charset="0"/>
              </a:rPr>
              <a:t>P. Sharma, N. Jain</a:t>
            </a:r>
            <a:r>
              <a:rPr lang="en-IN" sz="2300" dirty="0">
                <a:effectLst/>
                <a:latin typeface="Times New Roman" panose="02020603050405020304" pitchFamily="18" charset="0"/>
                <a:ea typeface="Times New Roman" panose="02020603050405020304" pitchFamily="18" charset="0"/>
              </a:rPr>
              <a:t>, </a:t>
            </a:r>
            <a:r>
              <a:rPr lang="en-IN" sz="2300" i="1" dirty="0">
                <a:effectLst/>
                <a:latin typeface="Times New Roman" panose="02020603050405020304" pitchFamily="18" charset="0"/>
                <a:ea typeface="Times New Roman" panose="02020603050405020304" pitchFamily="18" charset="0"/>
              </a:rPr>
              <a:t>Design and implementation of IoT-based smart battery monitoring system</a:t>
            </a:r>
            <a:r>
              <a:rPr lang="en-IN" sz="2300" dirty="0">
                <a:effectLst/>
                <a:latin typeface="Times New Roman" panose="02020603050405020304" pitchFamily="18" charset="0"/>
                <a:ea typeface="Times New Roman" panose="02020603050405020304" pitchFamily="18" charset="0"/>
              </a:rPr>
              <a:t>, International Journal of Scientific &amp; Engineering Research, 2019.</a:t>
            </a:r>
          </a:p>
          <a:p>
            <a:pPr marR="188595" algn="just">
              <a:lnSpc>
                <a:spcPct val="200000"/>
              </a:lnSpc>
              <a:spcBef>
                <a:spcPts val="1010"/>
              </a:spcBef>
              <a:tabLst>
                <a:tab pos="457200" algn="l"/>
                <a:tab pos="915670" algn="l"/>
              </a:tabLst>
            </a:pPr>
            <a:r>
              <a:rPr lang="en-IN" sz="2300" b="1" dirty="0">
                <a:effectLst/>
                <a:latin typeface="Times New Roman" panose="02020603050405020304" pitchFamily="18" charset="0"/>
                <a:ea typeface="Times New Roman" panose="02020603050405020304" pitchFamily="18" charset="0"/>
              </a:rPr>
              <a:t>A. Barré, B. </a:t>
            </a:r>
            <a:r>
              <a:rPr lang="en-IN" sz="2300" b="1" dirty="0" err="1">
                <a:effectLst/>
                <a:latin typeface="Times New Roman" panose="02020603050405020304" pitchFamily="18" charset="0"/>
                <a:ea typeface="Times New Roman" panose="02020603050405020304" pitchFamily="18" charset="0"/>
              </a:rPr>
              <a:t>Deguilhem</a:t>
            </a:r>
            <a:r>
              <a:rPr lang="en-IN" sz="2300" b="1" dirty="0">
                <a:effectLst/>
                <a:latin typeface="Times New Roman" panose="02020603050405020304" pitchFamily="18" charset="0"/>
                <a:ea typeface="Times New Roman" panose="02020603050405020304" pitchFamily="18" charset="0"/>
              </a:rPr>
              <a:t>, et al.</a:t>
            </a:r>
            <a:r>
              <a:rPr lang="en-IN" sz="2300" dirty="0">
                <a:effectLst/>
                <a:latin typeface="Times New Roman" panose="02020603050405020304" pitchFamily="18" charset="0"/>
                <a:ea typeface="Times New Roman" panose="02020603050405020304" pitchFamily="18" charset="0"/>
              </a:rPr>
              <a:t>, </a:t>
            </a:r>
            <a:r>
              <a:rPr lang="en-IN" sz="2300" i="1" dirty="0">
                <a:effectLst/>
                <a:latin typeface="Times New Roman" panose="02020603050405020304" pitchFamily="18" charset="0"/>
                <a:ea typeface="Times New Roman" panose="02020603050405020304" pitchFamily="18" charset="0"/>
              </a:rPr>
              <a:t>A review on lithium-ion battery ageing mechanisms and estimations for automotive applications</a:t>
            </a:r>
            <a:r>
              <a:rPr lang="en-IN" sz="2300" dirty="0">
                <a:effectLst/>
                <a:latin typeface="Times New Roman" panose="02020603050405020304" pitchFamily="18" charset="0"/>
                <a:ea typeface="Times New Roman" panose="02020603050405020304" pitchFamily="18" charset="0"/>
              </a:rPr>
              <a:t>, Journal of Power Sources, 2013.</a:t>
            </a:r>
          </a:p>
          <a:p>
            <a:pPr marR="188595" algn="just">
              <a:lnSpc>
                <a:spcPct val="200000"/>
              </a:lnSpc>
              <a:spcBef>
                <a:spcPts val="1010"/>
              </a:spcBef>
              <a:tabLst>
                <a:tab pos="457200" algn="l"/>
                <a:tab pos="915670" algn="l"/>
              </a:tabLst>
            </a:pPr>
            <a:r>
              <a:rPr lang="en-IN" sz="2300" b="1" dirty="0">
                <a:effectLst/>
                <a:latin typeface="Times New Roman" panose="02020603050405020304" pitchFamily="18" charset="0"/>
                <a:ea typeface="Times New Roman" panose="02020603050405020304" pitchFamily="18" charset="0"/>
              </a:rPr>
              <a:t>G. L. Plett</a:t>
            </a:r>
            <a:r>
              <a:rPr lang="en-IN" sz="2300" dirty="0">
                <a:effectLst/>
                <a:latin typeface="Times New Roman" panose="02020603050405020304" pitchFamily="18" charset="0"/>
                <a:ea typeface="Times New Roman" panose="02020603050405020304" pitchFamily="18" charset="0"/>
              </a:rPr>
              <a:t>, </a:t>
            </a:r>
            <a:r>
              <a:rPr lang="en-IN" sz="2300" i="1" dirty="0">
                <a:effectLst/>
                <a:latin typeface="Times New Roman" panose="02020603050405020304" pitchFamily="18" charset="0"/>
                <a:ea typeface="Times New Roman" panose="02020603050405020304" pitchFamily="18" charset="0"/>
              </a:rPr>
              <a:t>Battery management systems, Volume I: Battery </a:t>
            </a:r>
            <a:r>
              <a:rPr lang="en-IN" sz="2300" i="1" dirty="0" err="1">
                <a:effectLst/>
                <a:latin typeface="Times New Roman" panose="02020603050405020304" pitchFamily="18" charset="0"/>
                <a:ea typeface="Times New Roman" panose="02020603050405020304" pitchFamily="18" charset="0"/>
              </a:rPr>
              <a:t>Modeling</a:t>
            </a:r>
            <a:r>
              <a:rPr lang="en-IN" sz="2300" dirty="0">
                <a:effectLst/>
                <a:latin typeface="Times New Roman" panose="02020603050405020304" pitchFamily="18" charset="0"/>
                <a:ea typeface="Times New Roman" panose="02020603050405020304" pitchFamily="18" charset="0"/>
              </a:rPr>
              <a:t>, Artech House, 2015.</a:t>
            </a:r>
          </a:p>
          <a:p>
            <a:pPr marL="0" indent="0">
              <a:buNone/>
            </a:pPr>
            <a:endParaRPr lang="en-IN" dirty="0"/>
          </a:p>
        </p:txBody>
      </p:sp>
      <p:sp>
        <p:nvSpPr>
          <p:cNvPr id="4" name="Date Placeholder 3"/>
          <p:cNvSpPr>
            <a:spLocks noGrp="1"/>
          </p:cNvSpPr>
          <p:nvPr>
            <p:ph type="dt" sz="half" idx="10"/>
          </p:nvPr>
        </p:nvSpPr>
        <p:spPr/>
        <p:txBody>
          <a:bodyPr/>
          <a:lstStyle/>
          <a:p>
            <a:fld id="{24B1BDF4-22B3-4949-9669-02D47C0EB625}" type="datetime1">
              <a:rPr lang="en-IN" smtClean="0"/>
              <a:t>16-06-2026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15</a:t>
            </a:fld>
            <a:endParaRPr lang="en-IN"/>
          </a:p>
        </p:txBody>
      </p:sp>
    </p:spTree>
    <p:extLst>
      <p:ext uri="{BB962C8B-B14F-4D97-AF65-F5344CB8AC3E}">
        <p14:creationId xmlns:p14="http://schemas.microsoft.com/office/powerpoint/2010/main" val="3036914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9ED805-9F81-0C16-6EE4-E5E83BA0B54B}"/>
              </a:ext>
            </a:extLst>
          </p:cNvPr>
          <p:cNvSpPr>
            <a:spLocks noGrp="1"/>
          </p:cNvSpPr>
          <p:nvPr>
            <p:ph type="dt" sz="half" idx="10"/>
          </p:nvPr>
        </p:nvSpPr>
        <p:spPr/>
        <p:txBody>
          <a:bodyPr/>
          <a:lstStyle/>
          <a:p>
            <a:fld id="{9F1065F4-9D49-466F-B5D3-3E5BE6953EEA}" type="datetime1">
              <a:rPr lang="en-IN" smtClean="0"/>
              <a:t>16-06-2026</a:t>
            </a:fld>
            <a:endParaRPr lang="en-IN"/>
          </a:p>
        </p:txBody>
      </p:sp>
      <p:sp>
        <p:nvSpPr>
          <p:cNvPr id="3" name="Slide Number Placeholder 2">
            <a:extLst>
              <a:ext uri="{FF2B5EF4-FFF2-40B4-BE49-F238E27FC236}">
                <a16:creationId xmlns:a16="http://schemas.microsoft.com/office/drawing/2014/main" id="{EA2D0DCB-375C-386C-22D1-081657049CD7}"/>
              </a:ext>
            </a:extLst>
          </p:cNvPr>
          <p:cNvSpPr>
            <a:spLocks noGrp="1"/>
          </p:cNvSpPr>
          <p:nvPr>
            <p:ph type="sldNum" sz="quarter" idx="12"/>
          </p:nvPr>
        </p:nvSpPr>
        <p:spPr/>
        <p:txBody>
          <a:bodyPr/>
          <a:lstStyle/>
          <a:p>
            <a:fld id="{FF913B45-0786-488C-9F83-DB626DC1C02A}" type="slidenum">
              <a:rPr lang="en-IN" smtClean="0"/>
              <a:t>16</a:t>
            </a:fld>
            <a:endParaRPr lang="en-IN"/>
          </a:p>
        </p:txBody>
      </p:sp>
      <p:sp>
        <p:nvSpPr>
          <p:cNvPr id="5" name="TextBox 4">
            <a:extLst>
              <a:ext uri="{FF2B5EF4-FFF2-40B4-BE49-F238E27FC236}">
                <a16:creationId xmlns:a16="http://schemas.microsoft.com/office/drawing/2014/main" id="{7ADA69CD-7290-8D66-3130-24AF938600D0}"/>
              </a:ext>
            </a:extLst>
          </p:cNvPr>
          <p:cNvSpPr txBox="1"/>
          <p:nvPr/>
        </p:nvSpPr>
        <p:spPr>
          <a:xfrm>
            <a:off x="698091" y="421659"/>
            <a:ext cx="10795818" cy="5506892"/>
          </a:xfrm>
          <a:prstGeom prst="rect">
            <a:avLst/>
          </a:prstGeom>
          <a:noFill/>
        </p:spPr>
        <p:txBody>
          <a:bodyPr wrap="square">
            <a:spAutoFit/>
          </a:bodyPr>
          <a:lstStyle/>
          <a:p>
            <a:pPr marL="342900" marR="188595" lvl="0" indent="-342900" algn="just">
              <a:lnSpc>
                <a:spcPct val="200000"/>
              </a:lnSpc>
              <a:spcBef>
                <a:spcPts val="1010"/>
              </a:spcBef>
              <a:buFont typeface="Arial" panose="020B0604020202020204" pitchFamily="34" charset="0"/>
              <a:buChar char="•"/>
              <a:tabLst>
                <a:tab pos="457200" algn="l"/>
                <a:tab pos="915670" algn="l"/>
              </a:tabLst>
            </a:pPr>
            <a:r>
              <a:rPr lang="en-IN" sz="1800" b="1" dirty="0">
                <a:effectLst/>
                <a:latin typeface="Times New Roman" panose="02020603050405020304" pitchFamily="18" charset="0"/>
                <a:ea typeface="Times New Roman" panose="02020603050405020304" pitchFamily="18" charset="0"/>
              </a:rPr>
              <a:t>J. </a:t>
            </a:r>
            <a:r>
              <a:rPr lang="en-IN" sz="1800" b="1" dirty="0" err="1">
                <a:effectLst/>
                <a:latin typeface="Times New Roman" panose="02020603050405020304" pitchFamily="18" charset="0"/>
                <a:ea typeface="Times New Roman" panose="02020603050405020304" pitchFamily="18" charset="0"/>
              </a:rPr>
              <a:t>Jaguemont</a:t>
            </a:r>
            <a:r>
              <a:rPr lang="en-IN" sz="1800" b="1" dirty="0">
                <a:effectLst/>
                <a:latin typeface="Times New Roman" panose="02020603050405020304" pitchFamily="18" charset="0"/>
                <a:ea typeface="Times New Roman" panose="02020603050405020304" pitchFamily="18" charset="0"/>
              </a:rPr>
              <a:t>, L. </a:t>
            </a:r>
            <a:r>
              <a:rPr lang="en-IN" sz="1800" b="1" dirty="0" err="1">
                <a:effectLst/>
                <a:latin typeface="Times New Roman" panose="02020603050405020304" pitchFamily="18" charset="0"/>
                <a:ea typeface="Times New Roman" panose="02020603050405020304" pitchFamily="18" charset="0"/>
              </a:rPr>
              <a:t>Boulon</a:t>
            </a:r>
            <a:r>
              <a:rPr lang="en-IN" sz="1800" b="1" dirty="0">
                <a:effectLst/>
                <a:latin typeface="Times New Roman" panose="02020603050405020304" pitchFamily="18" charset="0"/>
                <a:ea typeface="Times New Roman" panose="02020603050405020304" pitchFamily="18" charset="0"/>
              </a:rPr>
              <a:t>, Y. Dubé</a:t>
            </a:r>
            <a:r>
              <a:rPr lang="en-IN" sz="1800" dirty="0">
                <a:effectLst/>
                <a:latin typeface="Times New Roman" panose="02020603050405020304" pitchFamily="18" charset="0"/>
                <a:ea typeface="Times New Roman" panose="02020603050405020304" pitchFamily="18" charset="0"/>
              </a:rPr>
              <a:t>, </a:t>
            </a:r>
            <a:r>
              <a:rPr lang="en-IN" sz="1800" i="1" dirty="0">
                <a:effectLst/>
                <a:latin typeface="Times New Roman" panose="02020603050405020304" pitchFamily="18" charset="0"/>
                <a:ea typeface="Times New Roman" panose="02020603050405020304" pitchFamily="18" charset="0"/>
              </a:rPr>
              <a:t>A comprehensive review of lithium-ion batteries used in hybrid and electric vehicles at cold temperatures</a:t>
            </a:r>
            <a:r>
              <a:rPr lang="en-IN" sz="1800" dirty="0">
                <a:effectLst/>
                <a:latin typeface="Times New Roman" panose="02020603050405020304" pitchFamily="18" charset="0"/>
                <a:ea typeface="Times New Roman" panose="02020603050405020304" pitchFamily="18" charset="0"/>
              </a:rPr>
              <a:t>, Applied Energy, 2016.</a:t>
            </a:r>
          </a:p>
          <a:p>
            <a:pPr marL="342900" marR="188595" lvl="0" indent="-342900" algn="just">
              <a:lnSpc>
                <a:spcPct val="200000"/>
              </a:lnSpc>
              <a:spcBef>
                <a:spcPts val="1010"/>
              </a:spcBef>
              <a:buFont typeface="Arial" panose="020B0604020202020204" pitchFamily="34" charset="0"/>
              <a:buChar char="•"/>
              <a:tabLst>
                <a:tab pos="457200" algn="l"/>
                <a:tab pos="915670" algn="l"/>
              </a:tabLst>
            </a:pPr>
            <a:r>
              <a:rPr lang="en-IN" sz="1800" b="1" dirty="0">
                <a:effectLst/>
                <a:latin typeface="Times New Roman" panose="02020603050405020304" pitchFamily="18" charset="0"/>
                <a:ea typeface="Times New Roman" panose="02020603050405020304" pitchFamily="18" charset="0"/>
              </a:rPr>
              <a:t>S. Das, A. Mahapatra</a:t>
            </a:r>
            <a:r>
              <a:rPr lang="en-IN" sz="1800" dirty="0">
                <a:effectLst/>
                <a:latin typeface="Times New Roman" panose="02020603050405020304" pitchFamily="18" charset="0"/>
                <a:ea typeface="Times New Roman" panose="02020603050405020304" pitchFamily="18" charset="0"/>
              </a:rPr>
              <a:t>, </a:t>
            </a:r>
            <a:r>
              <a:rPr lang="en-IN" sz="1800" i="1" dirty="0">
                <a:effectLst/>
                <a:latin typeface="Times New Roman" panose="02020603050405020304" pitchFamily="18" charset="0"/>
                <a:ea typeface="Times New Roman" panose="02020603050405020304" pitchFamily="18" charset="0"/>
              </a:rPr>
              <a:t>Machine learning in electric vehicle battery management systems: A review</a:t>
            </a:r>
            <a:r>
              <a:rPr lang="en-IN" sz="1800" dirty="0">
                <a:effectLst/>
                <a:latin typeface="Times New Roman" panose="02020603050405020304" pitchFamily="18" charset="0"/>
                <a:ea typeface="Times New Roman" panose="02020603050405020304" pitchFamily="18" charset="0"/>
              </a:rPr>
              <a:t>, Energy AI, 2022.</a:t>
            </a:r>
          </a:p>
          <a:p>
            <a:pPr marL="342900" marR="188595" lvl="0" indent="-342900" algn="just">
              <a:lnSpc>
                <a:spcPct val="200000"/>
              </a:lnSpc>
              <a:spcBef>
                <a:spcPts val="1010"/>
              </a:spcBef>
              <a:buFont typeface="Arial" panose="020B0604020202020204" pitchFamily="34" charset="0"/>
              <a:buChar char="•"/>
              <a:tabLst>
                <a:tab pos="457200" algn="l"/>
                <a:tab pos="915670" algn="l"/>
              </a:tabLst>
            </a:pPr>
            <a:r>
              <a:rPr lang="en-IN" sz="1800" b="1" dirty="0">
                <a:effectLst/>
                <a:latin typeface="Times New Roman" panose="02020603050405020304" pitchFamily="18" charset="0"/>
                <a:ea typeface="Times New Roman" panose="02020603050405020304" pitchFamily="18" charset="0"/>
              </a:rPr>
              <a:t>Y. Xing, E. W. M. Ma, K. L. Tsui, M. Pecht</a:t>
            </a:r>
            <a:r>
              <a:rPr lang="en-IN" sz="1800" dirty="0">
                <a:effectLst/>
                <a:latin typeface="Times New Roman" panose="02020603050405020304" pitchFamily="18" charset="0"/>
                <a:ea typeface="Times New Roman" panose="02020603050405020304" pitchFamily="18" charset="0"/>
              </a:rPr>
              <a:t>, </a:t>
            </a:r>
            <a:r>
              <a:rPr lang="en-IN" sz="1800" i="1" dirty="0">
                <a:effectLst/>
                <a:latin typeface="Times New Roman" panose="02020603050405020304" pitchFamily="18" charset="0"/>
                <a:ea typeface="Times New Roman" panose="02020603050405020304" pitchFamily="18" charset="0"/>
              </a:rPr>
              <a:t>An ensemble model for predicting the remaining useful performance of lithium-ion batteries</a:t>
            </a:r>
            <a:r>
              <a:rPr lang="en-IN" sz="1800" dirty="0">
                <a:effectLst/>
                <a:latin typeface="Times New Roman" panose="02020603050405020304" pitchFamily="18" charset="0"/>
                <a:ea typeface="Times New Roman" panose="02020603050405020304" pitchFamily="18" charset="0"/>
              </a:rPr>
              <a:t>, Microelectronics Reliability, 2013.</a:t>
            </a:r>
          </a:p>
          <a:p>
            <a:pPr marL="342900" marR="188595" lvl="0" indent="-342900" algn="just">
              <a:lnSpc>
                <a:spcPct val="200000"/>
              </a:lnSpc>
              <a:spcBef>
                <a:spcPts val="1010"/>
              </a:spcBef>
              <a:buFont typeface="Arial" panose="020B0604020202020204" pitchFamily="34" charset="0"/>
              <a:buChar char="•"/>
              <a:tabLst>
                <a:tab pos="457200" algn="l"/>
                <a:tab pos="915670" algn="l"/>
              </a:tabLst>
            </a:pPr>
            <a:r>
              <a:rPr lang="en-IN" sz="1800" b="1" dirty="0">
                <a:effectLst/>
                <a:latin typeface="Times New Roman" panose="02020603050405020304" pitchFamily="18" charset="0"/>
                <a:ea typeface="Times New Roman" panose="02020603050405020304" pitchFamily="18" charset="0"/>
              </a:rPr>
              <a:t>N. Ravi, P. Rajalakshmi</a:t>
            </a:r>
            <a:r>
              <a:rPr lang="en-IN" sz="1800" dirty="0">
                <a:effectLst/>
                <a:latin typeface="Times New Roman" panose="02020603050405020304" pitchFamily="18" charset="0"/>
                <a:ea typeface="Times New Roman" panose="02020603050405020304" pitchFamily="18" charset="0"/>
              </a:rPr>
              <a:t>, </a:t>
            </a:r>
            <a:r>
              <a:rPr lang="en-IN" sz="1800" i="1" dirty="0">
                <a:effectLst/>
                <a:latin typeface="Times New Roman" panose="02020603050405020304" pitchFamily="18" charset="0"/>
                <a:ea typeface="Times New Roman" panose="02020603050405020304" pitchFamily="18" charset="0"/>
              </a:rPr>
              <a:t>Design and development of a smart BMS using ESP8266 for electric vehicles</a:t>
            </a:r>
            <a:r>
              <a:rPr lang="en-IN" sz="1800" dirty="0">
                <a:effectLst/>
                <a:latin typeface="Times New Roman" panose="02020603050405020304" pitchFamily="18" charset="0"/>
                <a:ea typeface="Times New Roman" panose="02020603050405020304" pitchFamily="18" charset="0"/>
              </a:rPr>
              <a:t>, 2020 IEEE International Conference on Power Electronics.</a:t>
            </a:r>
          </a:p>
          <a:p>
            <a:pPr marL="285750" marR="188595" lvl="0" indent="-285750" algn="just">
              <a:lnSpc>
                <a:spcPct val="200000"/>
              </a:lnSpc>
              <a:spcBef>
                <a:spcPts val="1010"/>
              </a:spcBef>
              <a:buFont typeface="Arial" panose="020B0604020202020204" pitchFamily="34" charset="0"/>
              <a:buChar char="•"/>
              <a:tabLst>
                <a:tab pos="457200" algn="l"/>
                <a:tab pos="915670" algn="l"/>
              </a:tabLst>
            </a:pPr>
            <a:r>
              <a:rPr lang="en-IN" sz="1800" b="1" dirty="0">
                <a:effectLst/>
                <a:latin typeface="Times New Roman" panose="02020603050405020304" pitchFamily="18" charset="0"/>
                <a:ea typeface="Times New Roman" panose="02020603050405020304" pitchFamily="18" charset="0"/>
              </a:rPr>
              <a:t>Blynk IoT Platform Documentation</a:t>
            </a:r>
            <a:r>
              <a:rPr lang="en-IN" sz="1800" dirty="0">
                <a:effectLst/>
                <a:latin typeface="Times New Roman" panose="02020603050405020304" pitchFamily="18" charset="0"/>
                <a:ea typeface="Times New Roman" panose="02020603050405020304" pitchFamily="18" charset="0"/>
              </a:rPr>
              <a:t>, </a:t>
            </a:r>
            <a:r>
              <a:rPr lang="en-IN" sz="1800" i="1" dirty="0">
                <a:effectLst/>
                <a:latin typeface="Times New Roman" panose="02020603050405020304" pitchFamily="18" charset="0"/>
                <a:ea typeface="Times New Roman" panose="02020603050405020304" pitchFamily="18" charset="0"/>
              </a:rPr>
              <a:t>Getting Started with Blynk for ESP8266/</a:t>
            </a:r>
            <a:r>
              <a:rPr lang="en-IN" sz="1800" i="1" dirty="0" err="1">
                <a:effectLst/>
                <a:latin typeface="Times New Roman" panose="02020603050405020304" pitchFamily="18" charset="0"/>
                <a:ea typeface="Times New Roman" panose="02020603050405020304" pitchFamily="18" charset="0"/>
              </a:rPr>
              <a:t>NodeMCU</a:t>
            </a:r>
            <a:r>
              <a:rPr lang="en-IN" sz="18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3145683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effectLst>
            <a:glow rad="228600">
              <a:schemeClr val="accent1">
                <a:satMod val="175000"/>
                <a:alpha val="40000"/>
              </a:schemeClr>
            </a:glow>
          </a:effectLst>
        </p:spPr>
        <p:txBody>
          <a:bodyPr>
            <a:normAutofit/>
          </a:bodyPr>
          <a:lstStyle/>
          <a:p>
            <a:pPr algn="ctr" eaLnBrk="1" fontAlgn="auto" hangingPunct="1">
              <a:spcAft>
                <a:spcPts val="0"/>
              </a:spcAft>
              <a:buFont typeface="Arial" panose="020B0604020202020204" pitchFamily="34" charset="0"/>
              <a:buNone/>
              <a:defRPr/>
            </a:pPr>
            <a:endParaRPr lang="en-US" sz="6600" dirty="0">
              <a:latin typeface="Times New Roman" pitchFamily="18" charset="0"/>
              <a:cs typeface="Times New Roman" pitchFamily="18" charset="0"/>
            </a:endParaRPr>
          </a:p>
          <a:p>
            <a:pPr algn="ctr" eaLnBrk="1" fontAlgn="auto" hangingPunct="1">
              <a:spcAft>
                <a:spcPts val="0"/>
              </a:spcAft>
              <a:buFont typeface="Arial" panose="020B0604020202020204" pitchFamily="34" charset="0"/>
              <a:buNone/>
              <a:defRPr/>
            </a:pPr>
            <a:r>
              <a:rPr lang="en-US" sz="6600" b="1" dirty="0">
                <a:solidFill>
                  <a:srgbClr val="6C3EEC"/>
                </a:solidFill>
                <a:latin typeface="Times New Roman" pitchFamily="18" charset="0"/>
                <a:cs typeface="Times New Roman" pitchFamily="18" charset="0"/>
              </a:rPr>
              <a:t>THANK YOU</a:t>
            </a:r>
          </a:p>
        </p:txBody>
      </p:sp>
      <p:sp>
        <p:nvSpPr>
          <p:cNvPr id="7" name="Date Placeholder 6"/>
          <p:cNvSpPr>
            <a:spLocks noGrp="1"/>
          </p:cNvSpPr>
          <p:nvPr>
            <p:ph type="dt" sz="half" idx="10"/>
          </p:nvPr>
        </p:nvSpPr>
        <p:spPr/>
        <p:txBody>
          <a:bodyPr/>
          <a:lstStyle/>
          <a:p>
            <a:fld id="{F6EC7DAD-DA40-454F-BFF0-459A6BD68E0B}" type="datetime1">
              <a:rPr lang="en-IN" smtClean="0"/>
              <a:t>16-06-2026</a:t>
            </a:fld>
            <a:endParaRPr lang="en-IN"/>
          </a:p>
        </p:txBody>
      </p:sp>
      <p:sp>
        <p:nvSpPr>
          <p:cNvPr id="8" name="Slide Number Placeholder 7"/>
          <p:cNvSpPr>
            <a:spLocks noGrp="1"/>
          </p:cNvSpPr>
          <p:nvPr>
            <p:ph type="sldNum" sz="quarter" idx="12"/>
          </p:nvPr>
        </p:nvSpPr>
        <p:spPr/>
        <p:txBody>
          <a:bodyPr/>
          <a:lstStyle/>
          <a:p>
            <a:fld id="{FF913B45-0786-488C-9F83-DB626DC1C02A}" type="slidenum">
              <a:rPr lang="en-IN" smtClean="0"/>
              <a:t>17</a:t>
            </a:fld>
            <a:endParaRPr lang="en-IN"/>
          </a:p>
        </p:txBody>
      </p:sp>
    </p:spTree>
    <p:extLst>
      <p:ext uri="{BB962C8B-B14F-4D97-AF65-F5344CB8AC3E}">
        <p14:creationId xmlns:p14="http://schemas.microsoft.com/office/powerpoint/2010/main" val="883087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142</TotalTime>
  <Words>1244</Words>
  <Application>Microsoft Office PowerPoint</Application>
  <PresentationFormat>Widescreen</PresentationFormat>
  <Paragraphs>203</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PowerPoint Presentation</vt:lpstr>
      <vt:lpstr>OVERVIEW</vt:lpstr>
      <vt:lpstr> CHALLENGE STATEMENT   </vt:lpstr>
      <vt:lpstr>LITERATURE SURVEY /  BACKGROUND STUDY</vt:lpstr>
      <vt:lpstr>EXISTING  METHOD</vt:lpstr>
      <vt:lpstr>PROPOSED / INNOVATIVE METHOD</vt:lpstr>
      <vt:lpstr>BLOCK / SCHEMATIC DIAGRAM</vt:lpstr>
      <vt:lpstr>USE CASE DIAGRAM</vt:lpstr>
      <vt:lpstr>SOFTWARE/HARDWARE IMPLEMENTATION VIDEO</vt:lpstr>
      <vt:lpstr>DESCRIPTION OF SOFTWARE/HARDWARE IMPLEMENTATION</vt:lpstr>
      <vt:lpstr>EXPERIMENTAL RESULTS</vt:lpstr>
      <vt:lpstr>PowerPoint Presentation</vt:lpstr>
      <vt:lpstr>PowerPoint Presentation</vt:lpstr>
      <vt:lpstr>CONCLUSION &amp; FUTURE WORK </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Manju Sri</cp:lastModifiedBy>
  <cp:revision>29</cp:revision>
  <dcterms:created xsi:type="dcterms:W3CDTF">2025-03-03T05:54:36Z</dcterms:created>
  <dcterms:modified xsi:type="dcterms:W3CDTF">2026-06-16T10:37:39Z</dcterms:modified>
</cp:coreProperties>
</file>